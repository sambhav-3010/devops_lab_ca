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bin" ContentType="application/vnd.openxmlformats-officedocument.presentationml.printerSettings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 type="screen16x9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1" r:id="rId1"/>
  </p:sldLayoutIdLst>
  <p:txStyles>
    <p:titleStyle/>
    <p:bodyStyle/>
    <p:otherStyle/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" name="Box 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020"/>
          </a:solidFill>
          <a:ln w="10000">
            <a:solidFill>
              <a:srgbClr val="0A1020"/>
            </a:solidFill>
          </a:ln>
        </p:spPr>
      </p:sp>
      <p:sp>
        <p:nvSpPr>
          <p:cNvPr id="23" name="Dot 23"/>
          <p:cNvSpPr/>
          <p:nvPr/>
        </p:nvSpPr>
        <p:spPr>
          <a:xfrm>
            <a:off x="11000000" y="500000"/>
            <a:ext cx="900000" cy="900000"/>
          </a:xfrm>
          <a:prstGeom prst="ellipse">
            <a:avLst/>
          </a:prstGeom>
          <a:solidFill>
            <a:srgbClr val="10263A"/>
          </a:solidFill>
          <a:ln>
            <a:noFill/>
          </a:ln>
        </p:spPr>
      </p:sp>
      <p:sp>
        <p:nvSpPr>
          <p:cNvPr id="24" name="Dot 24"/>
          <p:cNvSpPr/>
          <p:nvPr/>
        </p:nvSpPr>
        <p:spPr>
          <a:xfrm>
            <a:off x="11190000" y="690000"/>
            <a:ext cx="400000" cy="400000"/>
          </a:xfrm>
          <a:prstGeom prst="ellipse">
            <a:avLst/>
          </a:prstGeom>
          <a:solidFill>
            <a:srgbClr val="FF8A3D"/>
          </a:solidFill>
          <a:ln>
            <a:noFill/>
          </a:ln>
        </p:spPr>
      </p:sp>
      <p:sp>
        <p:nvSpPr>
          <p:cNvPr id="11" name="Text 11"/>
          <p:cNvSpPr/>
          <p:nvPr/>
        </p:nvSpPr>
        <p:spPr>
          <a:xfrm>
            <a:off x="750000" y="950000"/>
            <a:ext cx="35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00" b="true">
                <a:solidFill>
                  <a:srgbClr val="FF8A3D"/>
                </a:solidFill>
                <a:latin typeface="Aptos"/>
              </a:rPr>
              <a:t>DEVOPS MINI-PROJECT</a:t>
            </a:r>
            <a:endParaRPr lang="en-US" sz="1200"/>
          </a:p>
        </p:txBody>
      </p:sp>
      <p:sp>
        <p:nvSpPr>
          <p:cNvPr id="12" name="Text 12"/>
          <p:cNvSpPr/>
          <p:nvPr/>
        </p:nvSpPr>
        <p:spPr>
          <a:xfrm>
            <a:off x="750000" y="1550000"/>
            <a:ext cx="6500000" cy="15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400" b="true">
                <a:solidFill>
                  <a:srgbClr val="F7FAFC"/>
                </a:solidFill>
                <a:latin typeface="Aptos"/>
              </a:rPr>
              <a:t>Kubernetes</a:t>
            </a:r>
            <a:endParaRPr lang="en-US" sz="3400"/>
          </a:p>
          <a:p>
            <a:pPr algn="l"/>
            <a:r>
              <a:rPr lang="en-US" sz="3400" b="true">
                <a:solidFill>
                  <a:srgbClr val="F7FAFC"/>
                </a:solidFill>
                <a:latin typeface="Aptos"/>
              </a:rPr>
              <a:t>Workload Reliability</a:t>
            </a:r>
            <a:endParaRPr lang="en-US" sz="3400"/>
          </a:p>
        </p:txBody>
      </p:sp>
      <p:sp>
        <p:nvSpPr>
          <p:cNvPr id="13" name="Text 13"/>
          <p:cNvSpPr/>
          <p:nvPr/>
        </p:nvSpPr>
        <p:spPr>
          <a:xfrm>
            <a:off x="780000" y="3450000"/>
            <a:ext cx="5800000" cy="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900" b="false">
                <a:solidFill>
                  <a:srgbClr val="9DABC0"/>
                </a:solidFill>
                <a:latin typeface="Aptos"/>
              </a:rPr>
              <a:t>Resource pressure analysis with Prometheus and Grafana</a:t>
            </a:r>
            <a:endParaRPr lang="en-US" sz="1900"/>
          </a:p>
        </p:txBody>
      </p:sp>
      <p:sp>
        <p:nvSpPr>
          <p:cNvPr id="14" name="Text 14"/>
          <p:cNvSpPr/>
          <p:nvPr/>
        </p:nvSpPr>
        <p:spPr>
          <a:xfrm>
            <a:off x="780000" y="4900000"/>
            <a:ext cx="7000000" cy="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true">
                <a:solidFill>
                  <a:srgbClr val="45D7E8"/>
                </a:solidFill>
                <a:latin typeface="Aptos"/>
              </a:rPr>
              <a:t>Deploy  →  Monitor  →  Simulate  →  Detect  →  Recover</a:t>
            </a:r>
            <a:endParaRPr lang="en-US" sz="1700"/>
          </a:p>
        </p:txBody>
      </p:sp>
      <p:sp>
        <p:nvSpPr>
          <p:cNvPr id="15" name="Box 15"/>
          <p:cNvSpPr/>
          <p:nvPr/>
        </p:nvSpPr>
        <p:spPr>
          <a:xfrm>
            <a:off x="7900000" y="1600000"/>
            <a:ext cx="3000000" cy="3600000"/>
          </a:xfrm>
          <a:prstGeom prst="roundRect">
            <a:avLst/>
          </a:prstGeom>
          <a:solidFill>
            <a:srgbClr val="121B2E"/>
          </a:solidFill>
          <a:ln w="10000">
            <a:solidFill>
              <a:srgbClr val="23304A"/>
            </a:solidFill>
          </a:ln>
        </p:spPr>
      </p:sp>
      <p:sp>
        <p:nvSpPr>
          <p:cNvPr id="16" name="Text 16"/>
          <p:cNvSpPr/>
          <p:nvPr/>
        </p:nvSpPr>
        <p:spPr>
          <a:xfrm>
            <a:off x="8200000" y="1850000"/>
            <a:ext cx="24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en-US" sz="1100" b="true">
                <a:solidFill>
                  <a:srgbClr val="FF8A3D"/>
                </a:solidFill>
                <a:latin typeface="Aptos"/>
              </a:rPr>
              <a:t>OBSERVABILITY LOOP</a:t>
            </a:r>
            <a:endParaRPr lang="en-US" sz="1100"/>
          </a:p>
        </p:txBody>
      </p:sp>
      <p:sp>
        <p:nvSpPr>
          <p:cNvPr id="17" name="Dot 17"/>
          <p:cNvSpPr/>
          <p:nvPr/>
        </p:nvSpPr>
        <p:spPr>
          <a:xfrm>
            <a:off x="8600000" y="2550000"/>
            <a:ext cx="900000" cy="900000"/>
          </a:xfrm>
          <a:prstGeom prst="ellipse">
            <a:avLst/>
          </a:prstGeom>
          <a:solidFill>
            <a:srgbClr val="FF8A3D"/>
          </a:solidFill>
          <a:ln>
            <a:noFill/>
          </a:ln>
        </p:spPr>
      </p:sp>
      <p:sp>
        <p:nvSpPr>
          <p:cNvPr id="18" name="Text 18"/>
          <p:cNvSpPr/>
          <p:nvPr/>
        </p:nvSpPr>
        <p:spPr>
          <a:xfrm>
            <a:off x="8850000" y="2720000"/>
            <a:ext cx="4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en-US" sz="2800" b="true">
                <a:solidFill>
                  <a:srgbClr val="0A1020"/>
                </a:solidFill>
                <a:latin typeface="Aptos"/>
              </a:rPr>
              <a:t>P</a:t>
            </a:r>
            <a:endParaRPr lang="en-US" sz="2800"/>
          </a:p>
        </p:txBody>
      </p:sp>
      <p:sp>
        <p:nvSpPr>
          <p:cNvPr id="19" name="Dot 19"/>
          <p:cNvSpPr/>
          <p:nvPr/>
        </p:nvSpPr>
        <p:spPr>
          <a:xfrm>
            <a:off x="9750000" y="2900000"/>
            <a:ext cx="550000" cy="550000"/>
          </a:xfrm>
          <a:prstGeom prst="ellipse">
            <a:avLst/>
          </a:prstGeom>
          <a:solidFill>
            <a:srgbClr val="45D7E8"/>
          </a:solidFill>
          <a:ln>
            <a:noFill/>
          </a:ln>
        </p:spPr>
      </p:sp>
      <p:sp>
        <p:nvSpPr>
          <p:cNvPr id="20" name="Text 20"/>
          <p:cNvSpPr/>
          <p:nvPr/>
        </p:nvSpPr>
        <p:spPr>
          <a:xfrm>
            <a:off x="9910000" y="3010000"/>
            <a:ext cx="25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en-US" sz="1600" b="true">
                <a:solidFill>
                  <a:srgbClr val="0A1020"/>
                </a:solidFill>
                <a:latin typeface="Aptos"/>
              </a:rPr>
              <a:t>G</a:t>
            </a:r>
            <a:endParaRPr lang="en-US" sz="1600"/>
          </a:p>
        </p:txBody>
      </p:sp>
      <p:sp>
        <p:nvSpPr>
          <p:cNvPr id="21" name="Text 21"/>
          <p:cNvSpPr/>
          <p:nvPr/>
        </p:nvSpPr>
        <p:spPr>
          <a:xfrm>
            <a:off x="8300000" y="4100000"/>
            <a:ext cx="23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en-US" sz="1300" b="true">
                <a:solidFill>
                  <a:srgbClr val="F7FAFC"/>
                </a:solidFill>
                <a:latin typeface="Aptos"/>
              </a:rPr>
              <a:t>Prometheus  →  Grafana</a:t>
            </a:r>
            <a:endParaRPr lang="en-US" sz="1300"/>
          </a:p>
        </p:txBody>
      </p:sp>
      <p:sp>
        <p:nvSpPr>
          <p:cNvPr id="25" name="Text 25"/>
          <p:cNvSpPr/>
          <p:nvPr/>
        </p:nvSpPr>
        <p:spPr>
          <a:xfrm>
            <a:off x="650000" y="6570000"/>
            <a:ext cx="7000000" cy="1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900" b="true">
                <a:solidFill>
                  <a:srgbClr val="63758F"/>
                </a:solidFill>
                <a:latin typeface="Aptos"/>
              </a:rPr>
              <a:t>KUBERNETES WORKLOAD RELIABILITY  /  DEVOPS MINI-PROJECT</a:t>
            </a:r>
            <a:endParaRPr lang="en-US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" name="Box 4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020"/>
          </a:solidFill>
          <a:ln w="10000">
            <a:solidFill>
              <a:srgbClr val="0A1020"/>
            </a:solidFill>
          </a:ln>
        </p:spPr>
      </p:sp>
      <p:sp>
        <p:nvSpPr>
          <p:cNvPr id="48" name="Dot 48"/>
          <p:cNvSpPr/>
          <p:nvPr/>
        </p:nvSpPr>
        <p:spPr>
          <a:xfrm>
            <a:off x="11000000" y="500000"/>
            <a:ext cx="900000" cy="900000"/>
          </a:xfrm>
          <a:prstGeom prst="ellipse">
            <a:avLst/>
          </a:prstGeom>
          <a:solidFill>
            <a:srgbClr val="10263A"/>
          </a:solidFill>
          <a:ln>
            <a:noFill/>
          </a:ln>
        </p:spPr>
      </p:sp>
      <p:sp>
        <p:nvSpPr>
          <p:cNvPr id="49" name="Dot 49"/>
          <p:cNvSpPr/>
          <p:nvPr/>
        </p:nvSpPr>
        <p:spPr>
          <a:xfrm>
            <a:off x="11190000" y="690000"/>
            <a:ext cx="400000" cy="400000"/>
          </a:xfrm>
          <a:prstGeom prst="ellipse">
            <a:avLst/>
          </a:prstGeom>
          <a:solidFill>
            <a:srgbClr val="FF8A3D"/>
          </a:solidFill>
          <a:ln>
            <a:noFill/>
          </a:ln>
        </p:spPr>
      </p:sp>
      <p:sp>
        <p:nvSpPr>
          <p:cNvPr id="26" name="Text 26"/>
          <p:cNvSpPr/>
          <p:nvPr/>
        </p:nvSpPr>
        <p:spPr>
          <a:xfrm>
            <a:off x="650000" y="330000"/>
            <a:ext cx="30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FF8A3D"/>
                </a:solidFill>
                <a:latin typeface="Aptos"/>
              </a:rPr>
              <a:t>THE PROBLEM</a:t>
            </a:r>
            <a:endParaRPr lang="en-US" sz="1000"/>
          </a:p>
        </p:txBody>
      </p:sp>
      <p:sp>
        <p:nvSpPr>
          <p:cNvPr id="27" name="Text 27"/>
          <p:cNvSpPr/>
          <p:nvPr/>
        </p:nvSpPr>
        <p:spPr>
          <a:xfrm>
            <a:off x="650000" y="650000"/>
            <a:ext cx="105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700" b="true">
                <a:solidFill>
                  <a:srgbClr val="F7FAFC"/>
                </a:solidFill>
                <a:latin typeface="Aptos"/>
              </a:rPr>
              <a:t>Why monitor beyond uptime?</a:t>
            </a:r>
            <a:endParaRPr lang="en-US" sz="2700"/>
          </a:p>
        </p:txBody>
      </p:sp>
      <p:sp>
        <p:nvSpPr>
          <p:cNvPr id="28" name="Text 28"/>
          <p:cNvSpPr/>
          <p:nvPr/>
        </p:nvSpPr>
        <p:spPr>
          <a:xfrm>
            <a:off x="11300000" y="430000"/>
            <a:ext cx="4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1200" b="true">
                <a:solidFill>
                  <a:srgbClr val="9DABC0"/>
                </a:solidFill>
                <a:latin typeface="Aptos"/>
              </a:rPr>
              <a:t>02</a:t>
            </a:r>
            <a:endParaRPr lang="en-US" sz="1200"/>
          </a:p>
        </p:txBody>
      </p:sp>
      <p:sp>
        <p:nvSpPr>
          <p:cNvPr id="29" name="Box 29"/>
          <p:cNvSpPr/>
          <p:nvPr/>
        </p:nvSpPr>
        <p:spPr>
          <a:xfrm>
            <a:off x="650000" y="1400000"/>
            <a:ext cx="11000000" cy="18000"/>
          </a:xfrm>
          <a:prstGeom prst="rect">
            <a:avLst/>
          </a:prstGeom>
          <a:solidFill>
            <a:srgbClr val="23304A"/>
          </a:solidFill>
          <a:ln w="10000">
            <a:solidFill>
              <a:srgbClr val="23304A"/>
            </a:solidFill>
          </a:ln>
        </p:spPr>
      </p:sp>
      <p:sp>
        <p:nvSpPr>
          <p:cNvPr id="30" name="Text 30"/>
          <p:cNvSpPr/>
          <p:nvPr/>
        </p:nvSpPr>
        <p:spPr>
          <a:xfrm>
            <a:off x="850000" y="1900000"/>
            <a:ext cx="7000000" cy="5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500" b="true">
                <a:solidFill>
                  <a:srgbClr val="F7FAFC"/>
                </a:solidFill>
                <a:latin typeface="Aptos"/>
              </a:rPr>
              <a:t>A workload can be “up” and still be unhealthy.</a:t>
            </a:r>
            <a:endParaRPr lang="en-US" sz="2500"/>
          </a:p>
        </p:txBody>
      </p:sp>
      <p:sp>
        <p:nvSpPr>
          <p:cNvPr id="31" name="Text 31"/>
          <p:cNvSpPr/>
          <p:nvPr/>
        </p:nvSpPr>
        <p:spPr>
          <a:xfrm>
            <a:off x="850000" y="2600000"/>
            <a:ext cx="65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800" b="false">
                <a:solidFill>
                  <a:srgbClr val="9DABC0"/>
                </a:solidFill>
                <a:latin typeface="Aptos"/>
              </a:rPr>
              <a:t>Reliability becomes visible when Kubernetes state, container pressure, and application behavior are viewed together.</a:t>
            </a:r>
            <a:endParaRPr lang="en-US" sz="1800"/>
          </a:p>
        </p:txBody>
      </p:sp>
      <p:sp>
        <p:nvSpPr>
          <p:cNvPr id="32" name="Box 32"/>
          <p:cNvSpPr/>
          <p:nvPr/>
        </p:nvSpPr>
        <p:spPr>
          <a:xfrm>
            <a:off x="850000" y="4000000"/>
            <a:ext cx="3300000" cy="1300000"/>
          </a:xfrm>
          <a:prstGeom prst="roundRect">
            <a:avLst/>
          </a:prstGeom>
          <a:solidFill>
            <a:srgbClr val="121B2E"/>
          </a:solidFill>
          <a:ln w="10000">
            <a:solidFill>
              <a:srgbClr val="23304A"/>
            </a:solidFill>
          </a:ln>
        </p:spPr>
      </p:sp>
      <p:sp>
        <p:nvSpPr>
          <p:cNvPr id="33" name="Box 33"/>
          <p:cNvSpPr/>
          <p:nvPr/>
        </p:nvSpPr>
        <p:spPr>
          <a:xfrm>
            <a:off x="850000" y="4000000"/>
            <a:ext cx="85000" cy="1300000"/>
          </a:xfrm>
          <a:prstGeom prst="rect">
            <a:avLst/>
          </a:prstGeom>
          <a:solidFill>
            <a:srgbClr val="FF8A3D"/>
          </a:solidFill>
          <a:ln w="10000">
            <a:solidFill>
              <a:srgbClr val="FF8A3D"/>
            </a:solidFill>
          </a:ln>
        </p:spPr>
      </p:sp>
      <p:sp>
        <p:nvSpPr>
          <p:cNvPr id="34" name="Text 34"/>
          <p:cNvSpPr/>
          <p:nvPr/>
        </p:nvSpPr>
        <p:spPr>
          <a:xfrm>
            <a:off x="1030000" y="4140000"/>
            <a:ext cx="3000000" cy="2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FF8A3D"/>
                </a:solidFill>
                <a:latin typeface="Aptos"/>
              </a:rPr>
              <a:t>SIGNAL</a:t>
            </a:r>
            <a:endParaRPr lang="en-US" sz="1000"/>
          </a:p>
        </p:txBody>
      </p:sp>
      <p:sp>
        <p:nvSpPr>
          <p:cNvPr id="35" name="Text 35"/>
          <p:cNvSpPr/>
          <p:nvPr/>
        </p:nvSpPr>
        <p:spPr>
          <a:xfrm>
            <a:off x="1030000" y="4430000"/>
            <a:ext cx="30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true">
                <a:solidFill>
                  <a:srgbClr val="F7FAFC"/>
                </a:solidFill>
                <a:latin typeface="Aptos"/>
              </a:rPr>
              <a:t>Resource pressure</a:t>
            </a:r>
            <a:endParaRPr lang="en-US" sz="1700"/>
          </a:p>
        </p:txBody>
      </p:sp>
      <p:sp>
        <p:nvSpPr>
          <p:cNvPr id="36" name="Text 36"/>
          <p:cNvSpPr/>
          <p:nvPr/>
        </p:nvSpPr>
        <p:spPr>
          <a:xfrm>
            <a:off x="1030000" y="4890000"/>
            <a:ext cx="30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false">
                <a:solidFill>
                  <a:srgbClr val="9DABC0"/>
                </a:solidFill>
                <a:latin typeface="Aptos"/>
              </a:rPr>
              <a:t>CPU saturation, memory growth, throttling, and OOM risk.</a:t>
            </a:r>
            <a:endParaRPr lang="en-US" sz="1500"/>
          </a:p>
        </p:txBody>
      </p:sp>
      <p:sp>
        <p:nvSpPr>
          <p:cNvPr id="37" name="Box 37"/>
          <p:cNvSpPr/>
          <p:nvPr/>
        </p:nvSpPr>
        <p:spPr>
          <a:xfrm>
            <a:off x="4450000" y="4000000"/>
            <a:ext cx="3300000" cy="1300000"/>
          </a:xfrm>
          <a:prstGeom prst="roundRect">
            <a:avLst/>
          </a:prstGeom>
          <a:solidFill>
            <a:srgbClr val="121B2E"/>
          </a:solidFill>
          <a:ln w="10000">
            <a:solidFill>
              <a:srgbClr val="23304A"/>
            </a:solidFill>
          </a:ln>
        </p:spPr>
      </p:sp>
      <p:sp>
        <p:nvSpPr>
          <p:cNvPr id="38" name="Box 38"/>
          <p:cNvSpPr/>
          <p:nvPr/>
        </p:nvSpPr>
        <p:spPr>
          <a:xfrm>
            <a:off x="4450000" y="4000000"/>
            <a:ext cx="85000" cy="1300000"/>
          </a:xfrm>
          <a:prstGeom prst="rect">
            <a:avLst/>
          </a:prstGeom>
          <a:solidFill>
            <a:srgbClr val="F36D8D"/>
          </a:solidFill>
          <a:ln w="10000">
            <a:solidFill>
              <a:srgbClr val="F36D8D"/>
            </a:solidFill>
          </a:ln>
        </p:spPr>
      </p:sp>
      <p:sp>
        <p:nvSpPr>
          <p:cNvPr id="39" name="Text 39"/>
          <p:cNvSpPr/>
          <p:nvPr/>
        </p:nvSpPr>
        <p:spPr>
          <a:xfrm>
            <a:off x="4630000" y="4140000"/>
            <a:ext cx="3000000" cy="2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F36D8D"/>
                </a:solidFill>
                <a:latin typeface="Aptos"/>
              </a:rPr>
              <a:t>SIGNAL</a:t>
            </a:r>
            <a:endParaRPr lang="en-US" sz="1000"/>
          </a:p>
        </p:txBody>
      </p:sp>
      <p:sp>
        <p:nvSpPr>
          <p:cNvPr id="40" name="Text 40"/>
          <p:cNvSpPr/>
          <p:nvPr/>
        </p:nvSpPr>
        <p:spPr>
          <a:xfrm>
            <a:off x="4630000" y="4430000"/>
            <a:ext cx="30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true">
                <a:solidFill>
                  <a:srgbClr val="F7FAFC"/>
                </a:solidFill>
                <a:latin typeface="Aptos"/>
              </a:rPr>
              <a:t>User impact</a:t>
            </a:r>
            <a:endParaRPr lang="en-US" sz="1700"/>
          </a:p>
        </p:txBody>
      </p:sp>
      <p:sp>
        <p:nvSpPr>
          <p:cNvPr id="41" name="Text 41"/>
          <p:cNvSpPr/>
          <p:nvPr/>
        </p:nvSpPr>
        <p:spPr>
          <a:xfrm>
            <a:off x="4630000" y="4890000"/>
            <a:ext cx="30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false">
                <a:solidFill>
                  <a:srgbClr val="9DABC0"/>
                </a:solidFill>
                <a:latin typeface="Aptos"/>
              </a:rPr>
              <a:t>HTTP errors, request volume, and response-time changes.</a:t>
            </a:r>
            <a:endParaRPr lang="en-US" sz="1500"/>
          </a:p>
        </p:txBody>
      </p:sp>
      <p:sp>
        <p:nvSpPr>
          <p:cNvPr id="42" name="Box 42"/>
          <p:cNvSpPr/>
          <p:nvPr/>
        </p:nvSpPr>
        <p:spPr>
          <a:xfrm>
            <a:off x="8050000" y="4000000"/>
            <a:ext cx="3300000" cy="1300000"/>
          </a:xfrm>
          <a:prstGeom prst="roundRect">
            <a:avLst/>
          </a:prstGeom>
          <a:solidFill>
            <a:srgbClr val="121B2E"/>
          </a:solidFill>
          <a:ln w="10000">
            <a:solidFill>
              <a:srgbClr val="23304A"/>
            </a:solidFill>
          </a:ln>
        </p:spPr>
      </p:sp>
      <p:sp>
        <p:nvSpPr>
          <p:cNvPr id="43" name="Box 43"/>
          <p:cNvSpPr/>
          <p:nvPr/>
        </p:nvSpPr>
        <p:spPr>
          <a:xfrm>
            <a:off x="8050000" y="4000000"/>
            <a:ext cx="85000" cy="1300000"/>
          </a:xfrm>
          <a:prstGeom prst="rect">
            <a:avLst/>
          </a:prstGeom>
          <a:solidFill>
            <a:srgbClr val="65D69C"/>
          </a:solidFill>
          <a:ln w="10000">
            <a:solidFill>
              <a:srgbClr val="65D69C"/>
            </a:solidFill>
          </a:ln>
        </p:spPr>
      </p:sp>
      <p:sp>
        <p:nvSpPr>
          <p:cNvPr id="44" name="Text 44"/>
          <p:cNvSpPr/>
          <p:nvPr/>
        </p:nvSpPr>
        <p:spPr>
          <a:xfrm>
            <a:off x="8230000" y="4140000"/>
            <a:ext cx="3000000" cy="2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65D69C"/>
                </a:solidFill>
                <a:latin typeface="Aptos"/>
              </a:rPr>
              <a:t>SIGNAL</a:t>
            </a:r>
            <a:endParaRPr lang="en-US" sz="1000"/>
          </a:p>
        </p:txBody>
      </p:sp>
      <p:sp>
        <p:nvSpPr>
          <p:cNvPr id="45" name="Text 45"/>
          <p:cNvSpPr/>
          <p:nvPr/>
        </p:nvSpPr>
        <p:spPr>
          <a:xfrm>
            <a:off x="8230000" y="4430000"/>
            <a:ext cx="30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true">
                <a:solidFill>
                  <a:srgbClr val="F7FAFC"/>
                </a:solidFill>
                <a:latin typeface="Aptos"/>
              </a:rPr>
              <a:t>Recovery</a:t>
            </a:r>
            <a:endParaRPr lang="en-US" sz="1700"/>
          </a:p>
        </p:txBody>
      </p:sp>
      <p:sp>
        <p:nvSpPr>
          <p:cNvPr id="46" name="Text 46"/>
          <p:cNvSpPr/>
          <p:nvPr/>
        </p:nvSpPr>
        <p:spPr>
          <a:xfrm>
            <a:off x="8230000" y="4890000"/>
            <a:ext cx="30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false">
                <a:solidFill>
                  <a:srgbClr val="9DABC0"/>
                </a:solidFill>
                <a:latin typeface="Aptos"/>
              </a:rPr>
              <a:t>Replica availability and Kubernetes reconciliation.</a:t>
            </a:r>
            <a:endParaRPr lang="en-US" sz="1500"/>
          </a:p>
        </p:txBody>
      </p:sp>
      <p:sp>
        <p:nvSpPr>
          <p:cNvPr id="50" name="Text 50"/>
          <p:cNvSpPr/>
          <p:nvPr/>
        </p:nvSpPr>
        <p:spPr>
          <a:xfrm>
            <a:off x="650000" y="6570000"/>
            <a:ext cx="7000000" cy="1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900" b="true">
                <a:solidFill>
                  <a:srgbClr val="63758F"/>
                </a:solidFill>
                <a:latin typeface="Aptos"/>
              </a:rPr>
              <a:t>KUBERNETES WORKLOAD RELIABILITY  /  DEVOPS MINI-PROJECT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" name="Box 7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020"/>
          </a:solidFill>
          <a:ln w="10000">
            <a:solidFill>
              <a:srgbClr val="0A1020"/>
            </a:solidFill>
          </a:ln>
        </p:spPr>
      </p:sp>
      <p:sp>
        <p:nvSpPr>
          <p:cNvPr id="72" name="Dot 72"/>
          <p:cNvSpPr/>
          <p:nvPr/>
        </p:nvSpPr>
        <p:spPr>
          <a:xfrm>
            <a:off x="11000000" y="500000"/>
            <a:ext cx="900000" cy="900000"/>
          </a:xfrm>
          <a:prstGeom prst="ellipse">
            <a:avLst/>
          </a:prstGeom>
          <a:solidFill>
            <a:srgbClr val="10263A"/>
          </a:solidFill>
          <a:ln>
            <a:noFill/>
          </a:ln>
        </p:spPr>
      </p:sp>
      <p:sp>
        <p:nvSpPr>
          <p:cNvPr id="73" name="Dot 73"/>
          <p:cNvSpPr/>
          <p:nvPr/>
        </p:nvSpPr>
        <p:spPr>
          <a:xfrm>
            <a:off x="11190000" y="690000"/>
            <a:ext cx="400000" cy="400000"/>
          </a:xfrm>
          <a:prstGeom prst="ellipse">
            <a:avLst/>
          </a:prstGeom>
          <a:solidFill>
            <a:srgbClr val="FF8A3D"/>
          </a:solidFill>
          <a:ln>
            <a:noFill/>
          </a:ln>
        </p:spPr>
      </p:sp>
      <p:sp>
        <p:nvSpPr>
          <p:cNvPr id="51" name="Text 51"/>
          <p:cNvSpPr/>
          <p:nvPr/>
        </p:nvSpPr>
        <p:spPr>
          <a:xfrm>
            <a:off x="650000" y="330000"/>
            <a:ext cx="30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FF8A3D"/>
                </a:solidFill>
                <a:latin typeface="Aptos"/>
              </a:rPr>
              <a:t>AIM</a:t>
            </a:r>
            <a:endParaRPr lang="en-US" sz="1000"/>
          </a:p>
        </p:txBody>
      </p:sp>
      <p:sp>
        <p:nvSpPr>
          <p:cNvPr id="52" name="Text 52"/>
          <p:cNvSpPr/>
          <p:nvPr/>
        </p:nvSpPr>
        <p:spPr>
          <a:xfrm>
            <a:off x="650000" y="650000"/>
            <a:ext cx="105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700" b="true">
                <a:solidFill>
                  <a:srgbClr val="F7FAFC"/>
                </a:solidFill>
                <a:latin typeface="Aptos"/>
              </a:rPr>
              <a:t>One clear objective</a:t>
            </a:r>
            <a:endParaRPr lang="en-US" sz="2700"/>
          </a:p>
        </p:txBody>
      </p:sp>
      <p:sp>
        <p:nvSpPr>
          <p:cNvPr id="53" name="Text 53"/>
          <p:cNvSpPr/>
          <p:nvPr/>
        </p:nvSpPr>
        <p:spPr>
          <a:xfrm>
            <a:off x="11300000" y="430000"/>
            <a:ext cx="4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1200" b="true">
                <a:solidFill>
                  <a:srgbClr val="9DABC0"/>
                </a:solidFill>
                <a:latin typeface="Aptos"/>
              </a:rPr>
              <a:t>03</a:t>
            </a:r>
            <a:endParaRPr lang="en-US" sz="1200"/>
          </a:p>
        </p:txBody>
      </p:sp>
      <p:sp>
        <p:nvSpPr>
          <p:cNvPr id="54" name="Box 54"/>
          <p:cNvSpPr/>
          <p:nvPr/>
        </p:nvSpPr>
        <p:spPr>
          <a:xfrm>
            <a:off x="650000" y="1400000"/>
            <a:ext cx="11000000" cy="18000"/>
          </a:xfrm>
          <a:prstGeom prst="rect">
            <a:avLst/>
          </a:prstGeom>
          <a:solidFill>
            <a:srgbClr val="23304A"/>
          </a:solidFill>
          <a:ln w="10000">
            <a:solidFill>
              <a:srgbClr val="23304A"/>
            </a:solidFill>
          </a:ln>
        </p:spPr>
      </p:sp>
      <p:sp>
        <p:nvSpPr>
          <p:cNvPr id="55" name="Text 55"/>
          <p:cNvSpPr/>
          <p:nvPr/>
        </p:nvSpPr>
        <p:spPr>
          <a:xfrm>
            <a:off x="850000" y="1900000"/>
            <a:ext cx="100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400" b="true">
                <a:solidFill>
                  <a:srgbClr val="F7FAFC"/>
                </a:solidFill>
                <a:latin typeface="Aptos"/>
              </a:rPr>
              <a:t>Build a repeatable local lab that turns failure modes into observable signals.</a:t>
            </a:r>
            <a:endParaRPr lang="en-US" sz="2400"/>
          </a:p>
        </p:txBody>
      </p:sp>
      <p:sp>
        <p:nvSpPr>
          <p:cNvPr id="56" name="Box 56"/>
          <p:cNvSpPr/>
          <p:nvPr/>
        </p:nvSpPr>
        <p:spPr>
          <a:xfrm>
            <a:off x="850000" y="3300000"/>
            <a:ext cx="3300000" cy="1450000"/>
          </a:xfrm>
          <a:prstGeom prst="roundRect">
            <a:avLst/>
          </a:prstGeom>
          <a:solidFill>
            <a:srgbClr val="121B2E"/>
          </a:solidFill>
          <a:ln w="10000">
            <a:solidFill>
              <a:srgbClr val="23304A"/>
            </a:solidFill>
          </a:ln>
        </p:spPr>
      </p:sp>
      <p:sp>
        <p:nvSpPr>
          <p:cNvPr id="57" name="Box 57"/>
          <p:cNvSpPr/>
          <p:nvPr/>
        </p:nvSpPr>
        <p:spPr>
          <a:xfrm>
            <a:off x="850000" y="3300000"/>
            <a:ext cx="85000" cy="1450000"/>
          </a:xfrm>
          <a:prstGeom prst="rect">
            <a:avLst/>
          </a:prstGeom>
          <a:solidFill>
            <a:srgbClr val="FF8A3D"/>
          </a:solidFill>
          <a:ln w="10000">
            <a:solidFill>
              <a:srgbClr val="FF8A3D"/>
            </a:solidFill>
          </a:ln>
        </p:spPr>
      </p:sp>
      <p:sp>
        <p:nvSpPr>
          <p:cNvPr id="58" name="Text 58"/>
          <p:cNvSpPr/>
          <p:nvPr/>
        </p:nvSpPr>
        <p:spPr>
          <a:xfrm>
            <a:off x="1030000" y="3440000"/>
            <a:ext cx="3000000" cy="2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FF8A3D"/>
                </a:solidFill>
                <a:latin typeface="Aptos"/>
              </a:rPr>
              <a:t>PHASE</a:t>
            </a:r>
            <a:endParaRPr lang="en-US" sz="1000"/>
          </a:p>
        </p:txBody>
      </p:sp>
      <p:sp>
        <p:nvSpPr>
          <p:cNvPr id="59" name="Text 59"/>
          <p:cNvSpPr/>
          <p:nvPr/>
        </p:nvSpPr>
        <p:spPr>
          <a:xfrm>
            <a:off x="1030000" y="3730000"/>
            <a:ext cx="30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true">
                <a:solidFill>
                  <a:srgbClr val="F7FAFC"/>
                </a:solidFill>
                <a:latin typeface="Aptos"/>
              </a:rPr>
              <a:t>01  Deploy</a:t>
            </a:r>
            <a:endParaRPr lang="en-US" sz="1700"/>
          </a:p>
        </p:txBody>
      </p:sp>
      <p:sp>
        <p:nvSpPr>
          <p:cNvPr id="60" name="Text 60"/>
          <p:cNvSpPr/>
          <p:nvPr/>
        </p:nvSpPr>
        <p:spPr>
          <a:xfrm>
            <a:off x="1030000" y="4190000"/>
            <a:ext cx="30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false">
                <a:solidFill>
                  <a:srgbClr val="9DABC0"/>
                </a:solidFill>
                <a:latin typeface="Aptos"/>
              </a:rPr>
              <a:t>Two Node.js replicas with probes and resource boundaries.</a:t>
            </a:r>
            <a:endParaRPr lang="en-US" sz="1500"/>
          </a:p>
        </p:txBody>
      </p:sp>
      <p:sp>
        <p:nvSpPr>
          <p:cNvPr id="61" name="Box 61"/>
          <p:cNvSpPr/>
          <p:nvPr/>
        </p:nvSpPr>
        <p:spPr>
          <a:xfrm>
            <a:off x="4450000" y="3300000"/>
            <a:ext cx="3300000" cy="1450000"/>
          </a:xfrm>
          <a:prstGeom prst="roundRect">
            <a:avLst/>
          </a:prstGeom>
          <a:solidFill>
            <a:srgbClr val="121B2E"/>
          </a:solidFill>
          <a:ln w="10000">
            <a:solidFill>
              <a:srgbClr val="23304A"/>
            </a:solidFill>
          </a:ln>
        </p:spPr>
      </p:sp>
      <p:sp>
        <p:nvSpPr>
          <p:cNvPr id="62" name="Box 62"/>
          <p:cNvSpPr/>
          <p:nvPr/>
        </p:nvSpPr>
        <p:spPr>
          <a:xfrm>
            <a:off x="4450000" y="3300000"/>
            <a:ext cx="85000" cy="1450000"/>
          </a:xfrm>
          <a:prstGeom prst="rect">
            <a:avLst/>
          </a:prstGeom>
          <a:solidFill>
            <a:srgbClr val="45D7E8"/>
          </a:solidFill>
          <a:ln w="10000">
            <a:solidFill>
              <a:srgbClr val="45D7E8"/>
            </a:solidFill>
          </a:ln>
        </p:spPr>
      </p:sp>
      <p:sp>
        <p:nvSpPr>
          <p:cNvPr id="63" name="Text 63"/>
          <p:cNvSpPr/>
          <p:nvPr/>
        </p:nvSpPr>
        <p:spPr>
          <a:xfrm>
            <a:off x="4630000" y="3440000"/>
            <a:ext cx="3000000" cy="2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45D7E8"/>
                </a:solidFill>
                <a:latin typeface="Aptos"/>
              </a:rPr>
              <a:t>PHASE</a:t>
            </a:r>
            <a:endParaRPr lang="en-US" sz="1000"/>
          </a:p>
        </p:txBody>
      </p:sp>
      <p:sp>
        <p:nvSpPr>
          <p:cNvPr id="64" name="Text 64"/>
          <p:cNvSpPr/>
          <p:nvPr/>
        </p:nvSpPr>
        <p:spPr>
          <a:xfrm>
            <a:off x="4630000" y="3730000"/>
            <a:ext cx="30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true">
                <a:solidFill>
                  <a:srgbClr val="F7FAFC"/>
                </a:solidFill>
                <a:latin typeface="Aptos"/>
              </a:rPr>
              <a:t>02  Observe</a:t>
            </a:r>
            <a:endParaRPr lang="en-US" sz="1700"/>
          </a:p>
        </p:txBody>
      </p:sp>
      <p:sp>
        <p:nvSpPr>
          <p:cNvPr id="65" name="Text 65"/>
          <p:cNvSpPr/>
          <p:nvPr/>
        </p:nvSpPr>
        <p:spPr>
          <a:xfrm>
            <a:off x="4630000" y="4190000"/>
            <a:ext cx="30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false">
                <a:solidFill>
                  <a:srgbClr val="9DABC0"/>
                </a:solidFill>
                <a:latin typeface="Aptos"/>
              </a:rPr>
              <a:t>Prometheus scrapes app + Kubernetes metrics; Grafana visualizes.</a:t>
            </a:r>
            <a:endParaRPr lang="en-US" sz="1500"/>
          </a:p>
        </p:txBody>
      </p:sp>
      <p:sp>
        <p:nvSpPr>
          <p:cNvPr id="66" name="Box 66"/>
          <p:cNvSpPr/>
          <p:nvPr/>
        </p:nvSpPr>
        <p:spPr>
          <a:xfrm>
            <a:off x="8050000" y="3300000"/>
            <a:ext cx="3300000" cy="1450000"/>
          </a:xfrm>
          <a:prstGeom prst="roundRect">
            <a:avLst/>
          </a:prstGeom>
          <a:solidFill>
            <a:srgbClr val="121B2E"/>
          </a:solidFill>
          <a:ln w="10000">
            <a:solidFill>
              <a:srgbClr val="23304A"/>
            </a:solidFill>
          </a:ln>
        </p:spPr>
      </p:sp>
      <p:sp>
        <p:nvSpPr>
          <p:cNvPr id="67" name="Box 67"/>
          <p:cNvSpPr/>
          <p:nvPr/>
        </p:nvSpPr>
        <p:spPr>
          <a:xfrm>
            <a:off x="8050000" y="3300000"/>
            <a:ext cx="85000" cy="1450000"/>
          </a:xfrm>
          <a:prstGeom prst="rect">
            <a:avLst/>
          </a:prstGeom>
          <a:solidFill>
            <a:srgbClr val="65D69C"/>
          </a:solidFill>
          <a:ln w="10000">
            <a:solidFill>
              <a:srgbClr val="65D69C"/>
            </a:solidFill>
          </a:ln>
        </p:spPr>
      </p:sp>
      <p:sp>
        <p:nvSpPr>
          <p:cNvPr id="68" name="Text 68"/>
          <p:cNvSpPr/>
          <p:nvPr/>
        </p:nvSpPr>
        <p:spPr>
          <a:xfrm>
            <a:off x="8230000" y="3440000"/>
            <a:ext cx="3000000" cy="2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65D69C"/>
                </a:solidFill>
                <a:latin typeface="Aptos"/>
              </a:rPr>
              <a:t>PHASE</a:t>
            </a:r>
            <a:endParaRPr lang="en-US" sz="1000"/>
          </a:p>
        </p:txBody>
      </p:sp>
      <p:sp>
        <p:nvSpPr>
          <p:cNvPr id="69" name="Text 69"/>
          <p:cNvSpPr/>
          <p:nvPr/>
        </p:nvSpPr>
        <p:spPr>
          <a:xfrm>
            <a:off x="8230000" y="3730000"/>
            <a:ext cx="30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true">
                <a:solidFill>
                  <a:srgbClr val="F7FAFC"/>
                </a:solidFill>
                <a:latin typeface="Aptos"/>
              </a:rPr>
              <a:t>03  Learn</a:t>
            </a:r>
            <a:endParaRPr lang="en-US" sz="1700"/>
          </a:p>
        </p:txBody>
      </p:sp>
      <p:sp>
        <p:nvSpPr>
          <p:cNvPr id="70" name="Text 70"/>
          <p:cNvSpPr/>
          <p:nvPr/>
        </p:nvSpPr>
        <p:spPr>
          <a:xfrm>
            <a:off x="8230000" y="4190000"/>
            <a:ext cx="30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false">
                <a:solidFill>
                  <a:srgbClr val="9DABC0"/>
                </a:solidFill>
                <a:latin typeface="Aptos"/>
              </a:rPr>
              <a:t>Inject controlled load, errors, and pod deletion; inspect recovery.</a:t>
            </a:r>
            <a:endParaRPr lang="en-US" sz="1500"/>
          </a:p>
        </p:txBody>
      </p:sp>
      <p:sp>
        <p:nvSpPr>
          <p:cNvPr id="74" name="Text 74"/>
          <p:cNvSpPr/>
          <p:nvPr/>
        </p:nvSpPr>
        <p:spPr>
          <a:xfrm>
            <a:off x="650000" y="6570000"/>
            <a:ext cx="7000000" cy="1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900" b="true">
                <a:solidFill>
                  <a:srgbClr val="63758F"/>
                </a:solidFill>
                <a:latin typeface="Aptos"/>
              </a:rPr>
              <a:t>KUBERNETES WORKLOAD RELIABILITY  /  DEVOPS MINI-PROJECT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Box 10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020"/>
          </a:solidFill>
          <a:ln w="10000">
            <a:solidFill>
              <a:srgbClr val="0A1020"/>
            </a:solidFill>
          </a:ln>
        </p:spPr>
      </p:sp>
      <p:sp>
        <p:nvSpPr>
          <p:cNvPr id="109" name="Dot 109"/>
          <p:cNvSpPr/>
          <p:nvPr/>
        </p:nvSpPr>
        <p:spPr>
          <a:xfrm>
            <a:off x="11000000" y="500000"/>
            <a:ext cx="900000" cy="900000"/>
          </a:xfrm>
          <a:prstGeom prst="ellipse">
            <a:avLst/>
          </a:prstGeom>
          <a:solidFill>
            <a:srgbClr val="10263A"/>
          </a:solidFill>
          <a:ln>
            <a:noFill/>
          </a:ln>
        </p:spPr>
      </p:sp>
      <p:sp>
        <p:nvSpPr>
          <p:cNvPr id="110" name="Dot 110"/>
          <p:cNvSpPr/>
          <p:nvPr/>
        </p:nvSpPr>
        <p:spPr>
          <a:xfrm>
            <a:off x="11190000" y="690000"/>
            <a:ext cx="400000" cy="400000"/>
          </a:xfrm>
          <a:prstGeom prst="ellipse">
            <a:avLst/>
          </a:prstGeom>
          <a:solidFill>
            <a:srgbClr val="FF8A3D"/>
          </a:solidFill>
          <a:ln>
            <a:noFill/>
          </a:ln>
        </p:spPr>
      </p:sp>
      <p:sp>
        <p:nvSpPr>
          <p:cNvPr id="75" name="Text 75"/>
          <p:cNvSpPr/>
          <p:nvPr/>
        </p:nvSpPr>
        <p:spPr>
          <a:xfrm>
            <a:off x="650000" y="330000"/>
            <a:ext cx="30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FF8A3D"/>
                </a:solidFill>
                <a:latin typeface="Aptos"/>
              </a:rPr>
              <a:t>ARCHITECTURE</a:t>
            </a:r>
            <a:endParaRPr lang="en-US" sz="1000"/>
          </a:p>
        </p:txBody>
      </p:sp>
      <p:sp>
        <p:nvSpPr>
          <p:cNvPr id="76" name="Text 76"/>
          <p:cNvSpPr/>
          <p:nvPr/>
        </p:nvSpPr>
        <p:spPr>
          <a:xfrm>
            <a:off x="650000" y="650000"/>
            <a:ext cx="105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700" b="true">
                <a:solidFill>
                  <a:srgbClr val="F7FAFC"/>
                </a:solidFill>
                <a:latin typeface="Aptos"/>
              </a:rPr>
              <a:t>The system in one picture</a:t>
            </a:r>
            <a:endParaRPr lang="en-US" sz="2700"/>
          </a:p>
        </p:txBody>
      </p:sp>
      <p:sp>
        <p:nvSpPr>
          <p:cNvPr id="77" name="Text 77"/>
          <p:cNvSpPr/>
          <p:nvPr/>
        </p:nvSpPr>
        <p:spPr>
          <a:xfrm>
            <a:off x="11300000" y="430000"/>
            <a:ext cx="4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1200" b="true">
                <a:solidFill>
                  <a:srgbClr val="9DABC0"/>
                </a:solidFill>
                <a:latin typeface="Aptos"/>
              </a:rPr>
              <a:t>04</a:t>
            </a:r>
            <a:endParaRPr lang="en-US" sz="1200"/>
          </a:p>
        </p:txBody>
      </p:sp>
      <p:sp>
        <p:nvSpPr>
          <p:cNvPr id="78" name="Box 78"/>
          <p:cNvSpPr/>
          <p:nvPr/>
        </p:nvSpPr>
        <p:spPr>
          <a:xfrm>
            <a:off x="650000" y="1400000"/>
            <a:ext cx="11000000" cy="18000"/>
          </a:xfrm>
          <a:prstGeom prst="rect">
            <a:avLst/>
          </a:prstGeom>
          <a:solidFill>
            <a:srgbClr val="23304A"/>
          </a:solidFill>
          <a:ln w="10000">
            <a:solidFill>
              <a:srgbClr val="23304A"/>
            </a:solidFill>
          </a:ln>
        </p:spPr>
      </p:sp>
      <p:sp>
        <p:nvSpPr>
          <p:cNvPr id="79" name="Text 79"/>
          <p:cNvSpPr/>
          <p:nvPr/>
        </p:nvSpPr>
        <p:spPr>
          <a:xfrm>
            <a:off x="850000" y="1750000"/>
            <a:ext cx="95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false">
                <a:solidFill>
                  <a:srgbClr val="9DABC0"/>
                </a:solidFill>
                <a:latin typeface="Aptos"/>
              </a:rPr>
              <a:t>Traffic and state converge in Prometheus; Kubernetes remains the control plane.</a:t>
            </a:r>
            <a:endParaRPr lang="en-US" sz="1700"/>
          </a:p>
        </p:txBody>
      </p:sp>
      <p:sp>
        <p:nvSpPr>
          <p:cNvPr id="80" name="Box 80"/>
          <p:cNvSpPr/>
          <p:nvPr/>
        </p:nvSpPr>
        <p:spPr>
          <a:xfrm>
            <a:off x="850000" y="2900000"/>
            <a:ext cx="2350000" cy="1100000"/>
          </a:xfrm>
          <a:prstGeom prst="roundRect">
            <a:avLst/>
          </a:prstGeom>
          <a:solidFill>
            <a:srgbClr val="121B2E"/>
          </a:solidFill>
          <a:ln w="10000">
            <a:solidFill>
              <a:srgbClr val="23304A"/>
            </a:solidFill>
          </a:ln>
        </p:spPr>
      </p:sp>
      <p:sp>
        <p:nvSpPr>
          <p:cNvPr id="81" name="Box 81"/>
          <p:cNvSpPr/>
          <p:nvPr/>
        </p:nvSpPr>
        <p:spPr>
          <a:xfrm>
            <a:off x="850000" y="2900000"/>
            <a:ext cx="85000" cy="1100000"/>
          </a:xfrm>
          <a:prstGeom prst="rect">
            <a:avLst/>
          </a:prstGeom>
          <a:solidFill>
            <a:srgbClr val="FF8A3D"/>
          </a:solidFill>
          <a:ln w="10000">
            <a:solidFill>
              <a:srgbClr val="FF8A3D"/>
            </a:solidFill>
          </a:ln>
        </p:spPr>
      </p:sp>
      <p:sp>
        <p:nvSpPr>
          <p:cNvPr id="82" name="Text 82"/>
          <p:cNvSpPr/>
          <p:nvPr/>
        </p:nvSpPr>
        <p:spPr>
          <a:xfrm>
            <a:off x="1030000" y="3040000"/>
            <a:ext cx="2050000" cy="2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FF8A3D"/>
                </a:solidFill>
                <a:latin typeface="Aptos"/>
              </a:rPr>
              <a:t>INPUT</a:t>
            </a:r>
            <a:endParaRPr lang="en-US" sz="1000"/>
          </a:p>
        </p:txBody>
      </p:sp>
      <p:sp>
        <p:nvSpPr>
          <p:cNvPr id="83" name="Text 83"/>
          <p:cNvSpPr/>
          <p:nvPr/>
        </p:nvSpPr>
        <p:spPr>
          <a:xfrm>
            <a:off x="1030000" y="3330000"/>
            <a:ext cx="205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true">
                <a:solidFill>
                  <a:srgbClr val="F7FAFC"/>
                </a:solidFill>
                <a:latin typeface="Aptos"/>
              </a:rPr>
              <a:t>Browser / test traffic</a:t>
            </a:r>
            <a:endParaRPr lang="en-US" sz="1700"/>
          </a:p>
        </p:txBody>
      </p:sp>
      <p:sp>
        <p:nvSpPr>
          <p:cNvPr id="84" name="Text 84"/>
          <p:cNvSpPr/>
          <p:nvPr/>
        </p:nvSpPr>
        <p:spPr>
          <a:xfrm>
            <a:off x="1030000" y="3790000"/>
            <a:ext cx="2050000" cy="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false">
                <a:solidFill>
                  <a:srgbClr val="9DABC0"/>
                </a:solidFill>
                <a:latin typeface="Aptos"/>
              </a:rPr>
              <a:t>Invoke-RestMethod</a:t>
            </a:r>
            <a:endParaRPr lang="en-US" sz="1400"/>
          </a:p>
          <a:p>
            <a:pPr algn="l"/>
            <a:r>
              <a:rPr lang="en-US" sz="1400" b="false">
                <a:solidFill>
                  <a:srgbClr val="9DABC0"/>
                </a:solidFill>
                <a:latin typeface="Aptos"/>
              </a:rPr>
              <a:t>localhost:8000</a:t>
            </a:r>
            <a:endParaRPr lang="en-US" sz="1400"/>
          </a:p>
        </p:txBody>
      </p:sp>
      <p:sp>
        <p:nvSpPr>
          <p:cNvPr id="85" name="Text 85"/>
          <p:cNvSpPr/>
          <p:nvPr/>
        </p:nvSpPr>
        <p:spPr>
          <a:xfrm>
            <a:off x="3350000" y="3200000"/>
            <a:ext cx="45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en-US" sz="2800" b="true">
                <a:solidFill>
                  <a:srgbClr val="FF8A3D"/>
                </a:solidFill>
                <a:latin typeface="Aptos"/>
              </a:rPr>
              <a:t>→</a:t>
            </a:r>
            <a:endParaRPr lang="en-US" sz="2800"/>
          </a:p>
        </p:txBody>
      </p:sp>
      <p:sp>
        <p:nvSpPr>
          <p:cNvPr id="86" name="Box 86"/>
          <p:cNvSpPr/>
          <p:nvPr/>
        </p:nvSpPr>
        <p:spPr>
          <a:xfrm>
            <a:off x="3900000" y="2900000"/>
            <a:ext cx="2350000" cy="1100000"/>
          </a:xfrm>
          <a:prstGeom prst="roundRect">
            <a:avLst/>
          </a:prstGeom>
          <a:solidFill>
            <a:srgbClr val="121B2E"/>
          </a:solidFill>
          <a:ln w="10000">
            <a:solidFill>
              <a:srgbClr val="23304A"/>
            </a:solidFill>
          </a:ln>
        </p:spPr>
      </p:sp>
      <p:sp>
        <p:nvSpPr>
          <p:cNvPr id="87" name="Box 87"/>
          <p:cNvSpPr/>
          <p:nvPr/>
        </p:nvSpPr>
        <p:spPr>
          <a:xfrm>
            <a:off x="3900000" y="2900000"/>
            <a:ext cx="85000" cy="1100000"/>
          </a:xfrm>
          <a:prstGeom prst="rect">
            <a:avLst/>
          </a:prstGeom>
          <a:solidFill>
            <a:srgbClr val="45D7E8"/>
          </a:solidFill>
          <a:ln w="10000">
            <a:solidFill>
              <a:srgbClr val="45D7E8"/>
            </a:solidFill>
          </a:ln>
        </p:spPr>
      </p:sp>
      <p:sp>
        <p:nvSpPr>
          <p:cNvPr id="88" name="Text 88"/>
          <p:cNvSpPr/>
          <p:nvPr/>
        </p:nvSpPr>
        <p:spPr>
          <a:xfrm>
            <a:off x="4080000" y="3040000"/>
            <a:ext cx="2050000" cy="2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45D7E8"/>
                </a:solidFill>
                <a:latin typeface="Aptos"/>
              </a:rPr>
              <a:t>WORKLOAD</a:t>
            </a:r>
            <a:endParaRPr lang="en-US" sz="1000"/>
          </a:p>
        </p:txBody>
      </p:sp>
      <p:sp>
        <p:nvSpPr>
          <p:cNvPr id="89" name="Text 89"/>
          <p:cNvSpPr/>
          <p:nvPr/>
        </p:nvSpPr>
        <p:spPr>
          <a:xfrm>
            <a:off x="4080000" y="3330000"/>
            <a:ext cx="205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true">
                <a:solidFill>
                  <a:srgbClr val="F7FAFC"/>
                </a:solidFill>
                <a:latin typeface="Aptos"/>
              </a:rPr>
              <a:t>Node.js Service</a:t>
            </a:r>
            <a:endParaRPr lang="en-US" sz="1700"/>
          </a:p>
        </p:txBody>
      </p:sp>
      <p:sp>
        <p:nvSpPr>
          <p:cNvPr id="90" name="Text 90"/>
          <p:cNvSpPr/>
          <p:nvPr/>
        </p:nvSpPr>
        <p:spPr>
          <a:xfrm>
            <a:off x="4080000" y="3790000"/>
            <a:ext cx="2050000" cy="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false">
                <a:solidFill>
                  <a:srgbClr val="9DABC0"/>
                </a:solidFill>
                <a:latin typeface="Aptos"/>
              </a:rPr>
              <a:t>/health  /metrics  /load</a:t>
            </a:r>
            <a:endParaRPr lang="en-US" sz="1400"/>
          </a:p>
        </p:txBody>
      </p:sp>
      <p:sp>
        <p:nvSpPr>
          <p:cNvPr id="91" name="Text 91"/>
          <p:cNvSpPr/>
          <p:nvPr/>
        </p:nvSpPr>
        <p:spPr>
          <a:xfrm>
            <a:off x="6400000" y="3200000"/>
            <a:ext cx="45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en-US" sz="2800" b="true">
                <a:solidFill>
                  <a:srgbClr val="45D7E8"/>
                </a:solidFill>
                <a:latin typeface="Aptos"/>
              </a:rPr>
              <a:t>→</a:t>
            </a:r>
            <a:endParaRPr lang="en-US" sz="2800"/>
          </a:p>
        </p:txBody>
      </p:sp>
      <p:sp>
        <p:nvSpPr>
          <p:cNvPr id="92" name="Box 92"/>
          <p:cNvSpPr/>
          <p:nvPr/>
        </p:nvSpPr>
        <p:spPr>
          <a:xfrm>
            <a:off x="6950000" y="2900000"/>
            <a:ext cx="2350000" cy="1100000"/>
          </a:xfrm>
          <a:prstGeom prst="roundRect">
            <a:avLst/>
          </a:prstGeom>
          <a:solidFill>
            <a:srgbClr val="121B2E"/>
          </a:solidFill>
          <a:ln w="10000">
            <a:solidFill>
              <a:srgbClr val="23304A"/>
            </a:solidFill>
          </a:ln>
        </p:spPr>
      </p:sp>
      <p:sp>
        <p:nvSpPr>
          <p:cNvPr id="93" name="Box 93"/>
          <p:cNvSpPr/>
          <p:nvPr/>
        </p:nvSpPr>
        <p:spPr>
          <a:xfrm>
            <a:off x="6950000" y="2900000"/>
            <a:ext cx="85000" cy="1100000"/>
          </a:xfrm>
          <a:prstGeom prst="rect">
            <a:avLst/>
          </a:prstGeom>
          <a:solidFill>
            <a:srgbClr val="FF8A3D"/>
          </a:solidFill>
          <a:ln w="10000">
            <a:solidFill>
              <a:srgbClr val="FF8A3D"/>
            </a:solidFill>
          </a:ln>
        </p:spPr>
      </p:sp>
      <p:sp>
        <p:nvSpPr>
          <p:cNvPr id="94" name="Text 94"/>
          <p:cNvSpPr/>
          <p:nvPr/>
        </p:nvSpPr>
        <p:spPr>
          <a:xfrm>
            <a:off x="7130000" y="3040000"/>
            <a:ext cx="2050000" cy="2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FF8A3D"/>
                </a:solidFill>
                <a:latin typeface="Aptos"/>
              </a:rPr>
              <a:t>SIGNAL</a:t>
            </a:r>
            <a:endParaRPr lang="en-US" sz="1000"/>
          </a:p>
        </p:txBody>
      </p:sp>
      <p:sp>
        <p:nvSpPr>
          <p:cNvPr id="95" name="Text 95"/>
          <p:cNvSpPr/>
          <p:nvPr/>
        </p:nvSpPr>
        <p:spPr>
          <a:xfrm>
            <a:off x="7130000" y="3330000"/>
            <a:ext cx="205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true">
                <a:solidFill>
                  <a:srgbClr val="F7FAFC"/>
                </a:solidFill>
                <a:latin typeface="Aptos"/>
              </a:rPr>
              <a:t>Prometheus</a:t>
            </a:r>
            <a:endParaRPr lang="en-US" sz="1700"/>
          </a:p>
        </p:txBody>
      </p:sp>
      <p:sp>
        <p:nvSpPr>
          <p:cNvPr id="96" name="Text 96"/>
          <p:cNvSpPr/>
          <p:nvPr/>
        </p:nvSpPr>
        <p:spPr>
          <a:xfrm>
            <a:off x="7130000" y="3790000"/>
            <a:ext cx="2050000" cy="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false">
                <a:solidFill>
                  <a:srgbClr val="9DABC0"/>
                </a:solidFill>
                <a:latin typeface="Aptos"/>
              </a:rPr>
              <a:t>Scrape · query · alert</a:t>
            </a:r>
            <a:endParaRPr lang="en-US" sz="1400"/>
          </a:p>
        </p:txBody>
      </p:sp>
      <p:sp>
        <p:nvSpPr>
          <p:cNvPr id="97" name="Text 97"/>
          <p:cNvSpPr/>
          <p:nvPr/>
        </p:nvSpPr>
        <p:spPr>
          <a:xfrm>
            <a:off x="9450000" y="3200000"/>
            <a:ext cx="45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en-US" sz="2800" b="true">
                <a:solidFill>
                  <a:srgbClr val="FF8A3D"/>
                </a:solidFill>
                <a:latin typeface="Aptos"/>
              </a:rPr>
              <a:t>→</a:t>
            </a:r>
            <a:endParaRPr lang="en-US" sz="2800"/>
          </a:p>
        </p:txBody>
      </p:sp>
      <p:sp>
        <p:nvSpPr>
          <p:cNvPr id="98" name="Box 98"/>
          <p:cNvSpPr/>
          <p:nvPr/>
        </p:nvSpPr>
        <p:spPr>
          <a:xfrm>
            <a:off x="10000000" y="2900000"/>
            <a:ext cx="1500000" cy="1100000"/>
          </a:xfrm>
          <a:prstGeom prst="roundRect">
            <a:avLst/>
          </a:prstGeom>
          <a:solidFill>
            <a:srgbClr val="121B2E"/>
          </a:solidFill>
          <a:ln w="10000">
            <a:solidFill>
              <a:srgbClr val="23304A"/>
            </a:solidFill>
          </a:ln>
        </p:spPr>
      </p:sp>
      <p:sp>
        <p:nvSpPr>
          <p:cNvPr id="99" name="Box 99"/>
          <p:cNvSpPr/>
          <p:nvPr/>
        </p:nvSpPr>
        <p:spPr>
          <a:xfrm>
            <a:off x="10000000" y="2900000"/>
            <a:ext cx="85000" cy="1100000"/>
          </a:xfrm>
          <a:prstGeom prst="rect">
            <a:avLst/>
          </a:prstGeom>
          <a:solidFill>
            <a:srgbClr val="65D69C"/>
          </a:solidFill>
          <a:ln w="10000">
            <a:solidFill>
              <a:srgbClr val="65D69C"/>
            </a:solidFill>
          </a:ln>
        </p:spPr>
      </p:sp>
      <p:sp>
        <p:nvSpPr>
          <p:cNvPr id="100" name="Text 100"/>
          <p:cNvSpPr/>
          <p:nvPr/>
        </p:nvSpPr>
        <p:spPr>
          <a:xfrm>
            <a:off x="10180000" y="3040000"/>
            <a:ext cx="1200000" cy="2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65D69C"/>
                </a:solidFill>
                <a:latin typeface="Aptos"/>
              </a:rPr>
              <a:t>VIEW</a:t>
            </a:r>
            <a:endParaRPr lang="en-US" sz="1000"/>
          </a:p>
        </p:txBody>
      </p:sp>
      <p:sp>
        <p:nvSpPr>
          <p:cNvPr id="101" name="Text 101"/>
          <p:cNvSpPr/>
          <p:nvPr/>
        </p:nvSpPr>
        <p:spPr>
          <a:xfrm>
            <a:off x="10180000" y="3330000"/>
            <a:ext cx="12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true">
                <a:solidFill>
                  <a:srgbClr val="F7FAFC"/>
                </a:solidFill>
                <a:latin typeface="Aptos"/>
              </a:rPr>
              <a:t>Grafana</a:t>
            </a:r>
            <a:endParaRPr lang="en-US" sz="1700"/>
          </a:p>
        </p:txBody>
      </p:sp>
      <p:sp>
        <p:nvSpPr>
          <p:cNvPr id="102" name="Text 102"/>
          <p:cNvSpPr/>
          <p:nvPr/>
        </p:nvSpPr>
        <p:spPr>
          <a:xfrm>
            <a:off x="10180000" y="3790000"/>
            <a:ext cx="1200000" cy="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300" b="false">
                <a:solidFill>
                  <a:srgbClr val="9DABC0"/>
                </a:solidFill>
                <a:latin typeface="Aptos"/>
              </a:rPr>
              <a:t>Dashboard and trends</a:t>
            </a:r>
            <a:endParaRPr lang="en-US" sz="1300"/>
          </a:p>
        </p:txBody>
      </p:sp>
      <p:sp>
        <p:nvSpPr>
          <p:cNvPr id="103" name="Box 103"/>
          <p:cNvSpPr/>
          <p:nvPr/>
        </p:nvSpPr>
        <p:spPr>
          <a:xfrm>
            <a:off x="3900000" y="4800000"/>
            <a:ext cx="5600000" cy="950000"/>
          </a:xfrm>
          <a:prstGeom prst="roundRect">
            <a:avLst/>
          </a:prstGeom>
          <a:solidFill>
            <a:srgbClr val="121B2E"/>
          </a:solidFill>
          <a:ln w="10000">
            <a:solidFill>
              <a:srgbClr val="23304A"/>
            </a:solidFill>
          </a:ln>
        </p:spPr>
      </p:sp>
      <p:sp>
        <p:nvSpPr>
          <p:cNvPr id="104" name="Box 104"/>
          <p:cNvSpPr/>
          <p:nvPr/>
        </p:nvSpPr>
        <p:spPr>
          <a:xfrm>
            <a:off x="3900000" y="4800000"/>
            <a:ext cx="85000" cy="950000"/>
          </a:xfrm>
          <a:prstGeom prst="rect">
            <a:avLst/>
          </a:prstGeom>
          <a:solidFill>
            <a:srgbClr val="65D69C"/>
          </a:solidFill>
          <a:ln w="10000">
            <a:solidFill>
              <a:srgbClr val="65D69C"/>
            </a:solidFill>
          </a:ln>
        </p:spPr>
      </p:sp>
      <p:sp>
        <p:nvSpPr>
          <p:cNvPr id="105" name="Text 105"/>
          <p:cNvSpPr/>
          <p:nvPr/>
        </p:nvSpPr>
        <p:spPr>
          <a:xfrm>
            <a:off x="4080000" y="4940000"/>
            <a:ext cx="5300000" cy="2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65D69C"/>
                </a:solidFill>
                <a:latin typeface="Aptos"/>
              </a:rPr>
              <a:t>RECOVERY</a:t>
            </a:r>
            <a:endParaRPr lang="en-US" sz="1000"/>
          </a:p>
        </p:txBody>
      </p:sp>
      <p:sp>
        <p:nvSpPr>
          <p:cNvPr id="106" name="Text 106"/>
          <p:cNvSpPr/>
          <p:nvPr/>
        </p:nvSpPr>
        <p:spPr>
          <a:xfrm>
            <a:off x="4080000" y="5230000"/>
            <a:ext cx="53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true">
                <a:solidFill>
                  <a:srgbClr val="F7FAFC"/>
                </a:solidFill>
                <a:latin typeface="Aptos"/>
              </a:rPr>
              <a:t>Kubernetes controller</a:t>
            </a:r>
            <a:endParaRPr lang="en-US" sz="1700"/>
          </a:p>
        </p:txBody>
      </p:sp>
      <p:sp>
        <p:nvSpPr>
          <p:cNvPr id="107" name="Text 107"/>
          <p:cNvSpPr/>
          <p:nvPr/>
        </p:nvSpPr>
        <p:spPr>
          <a:xfrm>
            <a:off x="4080000" y="5690000"/>
            <a:ext cx="5300000" cy="-1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false">
                <a:solidFill>
                  <a:srgbClr val="9DABC0"/>
                </a:solidFill>
                <a:latin typeface="Aptos"/>
              </a:rPr>
              <a:t>Deployment reconciles desired replicas and replaces deleted pods.</a:t>
            </a:r>
            <a:endParaRPr lang="en-US" sz="1500"/>
          </a:p>
        </p:txBody>
      </p:sp>
      <p:sp>
        <p:nvSpPr>
          <p:cNvPr id="111" name="Text 111"/>
          <p:cNvSpPr/>
          <p:nvPr/>
        </p:nvSpPr>
        <p:spPr>
          <a:xfrm>
            <a:off x="650000" y="6570000"/>
            <a:ext cx="7000000" cy="1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900" b="true">
                <a:solidFill>
                  <a:srgbClr val="63758F"/>
                </a:solidFill>
                <a:latin typeface="Aptos"/>
              </a:rPr>
              <a:t>KUBERNETES WORKLOAD RELIABILITY  /  DEVOPS MINI-PROJECT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6" name="Box 14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020"/>
          </a:solidFill>
          <a:ln w="10000">
            <a:solidFill>
              <a:srgbClr val="0A1020"/>
            </a:solidFill>
          </a:ln>
        </p:spPr>
      </p:sp>
      <p:sp>
        <p:nvSpPr>
          <p:cNvPr id="147" name="Dot 147"/>
          <p:cNvSpPr/>
          <p:nvPr/>
        </p:nvSpPr>
        <p:spPr>
          <a:xfrm>
            <a:off x="11000000" y="500000"/>
            <a:ext cx="900000" cy="900000"/>
          </a:xfrm>
          <a:prstGeom prst="ellipse">
            <a:avLst/>
          </a:prstGeom>
          <a:solidFill>
            <a:srgbClr val="10263A"/>
          </a:solidFill>
          <a:ln>
            <a:noFill/>
          </a:ln>
        </p:spPr>
      </p:sp>
      <p:sp>
        <p:nvSpPr>
          <p:cNvPr id="148" name="Dot 148"/>
          <p:cNvSpPr/>
          <p:nvPr/>
        </p:nvSpPr>
        <p:spPr>
          <a:xfrm>
            <a:off x="11190000" y="690000"/>
            <a:ext cx="400000" cy="400000"/>
          </a:xfrm>
          <a:prstGeom prst="ellipse">
            <a:avLst/>
          </a:prstGeom>
          <a:solidFill>
            <a:srgbClr val="FF8A3D"/>
          </a:solidFill>
          <a:ln>
            <a:noFill/>
          </a:ln>
        </p:spPr>
      </p:sp>
      <p:sp>
        <p:nvSpPr>
          <p:cNvPr id="112" name="Text 112"/>
          <p:cNvSpPr/>
          <p:nvPr/>
        </p:nvSpPr>
        <p:spPr>
          <a:xfrm>
            <a:off x="650000" y="330000"/>
            <a:ext cx="30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FF8A3D"/>
                </a:solidFill>
                <a:latin typeface="Aptos"/>
              </a:rPr>
              <a:t>STACK</a:t>
            </a:r>
            <a:endParaRPr lang="en-US" sz="1000"/>
          </a:p>
        </p:txBody>
      </p:sp>
      <p:sp>
        <p:nvSpPr>
          <p:cNvPr id="113" name="Text 113"/>
          <p:cNvSpPr/>
          <p:nvPr/>
        </p:nvSpPr>
        <p:spPr>
          <a:xfrm>
            <a:off x="650000" y="650000"/>
            <a:ext cx="105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700" b="true">
                <a:solidFill>
                  <a:srgbClr val="F7FAFC"/>
                </a:solidFill>
                <a:latin typeface="Aptos"/>
              </a:rPr>
              <a:t>Tools with a job to do</a:t>
            </a:r>
            <a:endParaRPr lang="en-US" sz="2700"/>
          </a:p>
        </p:txBody>
      </p:sp>
      <p:sp>
        <p:nvSpPr>
          <p:cNvPr id="114" name="Text 114"/>
          <p:cNvSpPr/>
          <p:nvPr/>
        </p:nvSpPr>
        <p:spPr>
          <a:xfrm>
            <a:off x="11300000" y="430000"/>
            <a:ext cx="4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1200" b="true">
                <a:solidFill>
                  <a:srgbClr val="9DABC0"/>
                </a:solidFill>
                <a:latin typeface="Aptos"/>
              </a:rPr>
              <a:t>05</a:t>
            </a:r>
            <a:endParaRPr lang="en-US" sz="1200"/>
          </a:p>
        </p:txBody>
      </p:sp>
      <p:sp>
        <p:nvSpPr>
          <p:cNvPr id="115" name="Box 115"/>
          <p:cNvSpPr/>
          <p:nvPr/>
        </p:nvSpPr>
        <p:spPr>
          <a:xfrm>
            <a:off x="650000" y="1400000"/>
            <a:ext cx="11000000" cy="18000"/>
          </a:xfrm>
          <a:prstGeom prst="rect">
            <a:avLst/>
          </a:prstGeom>
          <a:solidFill>
            <a:srgbClr val="23304A"/>
          </a:solidFill>
          <a:ln w="10000">
            <a:solidFill>
              <a:srgbClr val="23304A"/>
            </a:solidFill>
          </a:ln>
        </p:spPr>
      </p:sp>
      <p:sp>
        <p:nvSpPr>
          <p:cNvPr id="116" name="Box 116"/>
          <p:cNvSpPr/>
          <p:nvPr/>
        </p:nvSpPr>
        <p:spPr>
          <a:xfrm>
            <a:off x="850000" y="1900000"/>
            <a:ext cx="3000000" cy="1150000"/>
          </a:xfrm>
          <a:prstGeom prst="roundRect">
            <a:avLst/>
          </a:prstGeom>
          <a:solidFill>
            <a:srgbClr val="121B2E"/>
          </a:solidFill>
          <a:ln w="10000">
            <a:solidFill>
              <a:srgbClr val="23304A"/>
            </a:solidFill>
          </a:ln>
        </p:spPr>
      </p:sp>
      <p:sp>
        <p:nvSpPr>
          <p:cNvPr id="117" name="Box 117"/>
          <p:cNvSpPr/>
          <p:nvPr/>
        </p:nvSpPr>
        <p:spPr>
          <a:xfrm>
            <a:off x="850000" y="1900000"/>
            <a:ext cx="85000" cy="1150000"/>
          </a:xfrm>
          <a:prstGeom prst="rect">
            <a:avLst/>
          </a:prstGeom>
          <a:solidFill>
            <a:srgbClr val="45D7E8"/>
          </a:solidFill>
          <a:ln w="10000">
            <a:solidFill>
              <a:srgbClr val="45D7E8"/>
            </a:solidFill>
          </a:ln>
        </p:spPr>
      </p:sp>
      <p:sp>
        <p:nvSpPr>
          <p:cNvPr id="118" name="Text 118"/>
          <p:cNvSpPr/>
          <p:nvPr/>
        </p:nvSpPr>
        <p:spPr>
          <a:xfrm>
            <a:off x="1030000" y="2040000"/>
            <a:ext cx="2700000" cy="2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45D7E8"/>
                </a:solidFill>
                <a:latin typeface="Aptos"/>
              </a:rPr>
              <a:t>RUNTIME</a:t>
            </a:r>
            <a:endParaRPr lang="en-US" sz="1000"/>
          </a:p>
        </p:txBody>
      </p:sp>
      <p:sp>
        <p:nvSpPr>
          <p:cNvPr id="119" name="Text 119"/>
          <p:cNvSpPr/>
          <p:nvPr/>
        </p:nvSpPr>
        <p:spPr>
          <a:xfrm>
            <a:off x="1030000" y="2330000"/>
            <a:ext cx="27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true">
                <a:solidFill>
                  <a:srgbClr val="F7FAFC"/>
                </a:solidFill>
                <a:latin typeface="Aptos"/>
              </a:rPr>
              <a:t>Docker Desktop</a:t>
            </a:r>
            <a:endParaRPr lang="en-US" sz="1700"/>
          </a:p>
        </p:txBody>
      </p:sp>
      <p:sp>
        <p:nvSpPr>
          <p:cNvPr id="120" name="Text 120"/>
          <p:cNvSpPr/>
          <p:nvPr/>
        </p:nvSpPr>
        <p:spPr>
          <a:xfrm>
            <a:off x="1030000" y="2790000"/>
            <a:ext cx="2700000" cy="1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false">
                <a:solidFill>
                  <a:srgbClr val="9DABC0"/>
                </a:solidFill>
                <a:latin typeface="Aptos"/>
              </a:rPr>
              <a:t>Local image build + Kubernetes runtime.</a:t>
            </a:r>
            <a:endParaRPr lang="en-US" sz="1500"/>
          </a:p>
        </p:txBody>
      </p:sp>
      <p:sp>
        <p:nvSpPr>
          <p:cNvPr id="121" name="Box 121"/>
          <p:cNvSpPr/>
          <p:nvPr/>
        </p:nvSpPr>
        <p:spPr>
          <a:xfrm>
            <a:off x="4100000" y="1900000"/>
            <a:ext cx="3000000" cy="1150000"/>
          </a:xfrm>
          <a:prstGeom prst="roundRect">
            <a:avLst/>
          </a:prstGeom>
          <a:solidFill>
            <a:srgbClr val="121B2E"/>
          </a:solidFill>
          <a:ln w="10000">
            <a:solidFill>
              <a:srgbClr val="23304A"/>
            </a:solidFill>
          </a:ln>
        </p:spPr>
      </p:sp>
      <p:sp>
        <p:nvSpPr>
          <p:cNvPr id="122" name="Box 122"/>
          <p:cNvSpPr/>
          <p:nvPr/>
        </p:nvSpPr>
        <p:spPr>
          <a:xfrm>
            <a:off x="4100000" y="1900000"/>
            <a:ext cx="85000" cy="1150000"/>
          </a:xfrm>
          <a:prstGeom prst="rect">
            <a:avLst/>
          </a:prstGeom>
          <a:solidFill>
            <a:srgbClr val="FF8A3D"/>
          </a:solidFill>
          <a:ln w="10000">
            <a:solidFill>
              <a:srgbClr val="FF8A3D"/>
            </a:solidFill>
          </a:ln>
        </p:spPr>
      </p:sp>
      <p:sp>
        <p:nvSpPr>
          <p:cNvPr id="123" name="Text 123"/>
          <p:cNvSpPr/>
          <p:nvPr/>
        </p:nvSpPr>
        <p:spPr>
          <a:xfrm>
            <a:off x="4280000" y="2040000"/>
            <a:ext cx="2700000" cy="2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FF8A3D"/>
                </a:solidFill>
                <a:latin typeface="Aptos"/>
              </a:rPr>
              <a:t>CONTROL PLANE</a:t>
            </a:r>
            <a:endParaRPr lang="en-US" sz="1000"/>
          </a:p>
        </p:txBody>
      </p:sp>
      <p:sp>
        <p:nvSpPr>
          <p:cNvPr id="124" name="Text 124"/>
          <p:cNvSpPr/>
          <p:nvPr/>
        </p:nvSpPr>
        <p:spPr>
          <a:xfrm>
            <a:off x="4280000" y="2330000"/>
            <a:ext cx="27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true">
                <a:solidFill>
                  <a:srgbClr val="F7FAFC"/>
                </a:solidFill>
                <a:latin typeface="Aptos"/>
              </a:rPr>
              <a:t>Kubernetes</a:t>
            </a:r>
            <a:endParaRPr lang="en-US" sz="1700"/>
          </a:p>
        </p:txBody>
      </p:sp>
      <p:sp>
        <p:nvSpPr>
          <p:cNvPr id="125" name="Text 125"/>
          <p:cNvSpPr/>
          <p:nvPr/>
        </p:nvSpPr>
        <p:spPr>
          <a:xfrm>
            <a:off x="4280000" y="2790000"/>
            <a:ext cx="2700000" cy="1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false">
                <a:solidFill>
                  <a:srgbClr val="9DABC0"/>
                </a:solidFill>
                <a:latin typeface="Aptos"/>
              </a:rPr>
              <a:t>Deployments, Services, probes, limits, reconciliation.</a:t>
            </a:r>
            <a:endParaRPr lang="en-US" sz="1500"/>
          </a:p>
        </p:txBody>
      </p:sp>
      <p:sp>
        <p:nvSpPr>
          <p:cNvPr id="126" name="Box 126"/>
          <p:cNvSpPr/>
          <p:nvPr/>
        </p:nvSpPr>
        <p:spPr>
          <a:xfrm>
            <a:off x="7350000" y="1900000"/>
            <a:ext cx="3000000" cy="1150000"/>
          </a:xfrm>
          <a:prstGeom prst="roundRect">
            <a:avLst/>
          </a:prstGeom>
          <a:solidFill>
            <a:srgbClr val="121B2E"/>
          </a:solidFill>
          <a:ln w="10000">
            <a:solidFill>
              <a:srgbClr val="23304A"/>
            </a:solidFill>
          </a:ln>
        </p:spPr>
      </p:sp>
      <p:sp>
        <p:nvSpPr>
          <p:cNvPr id="127" name="Box 127"/>
          <p:cNvSpPr/>
          <p:nvPr/>
        </p:nvSpPr>
        <p:spPr>
          <a:xfrm>
            <a:off x="7350000" y="1900000"/>
            <a:ext cx="85000" cy="1150000"/>
          </a:xfrm>
          <a:prstGeom prst="rect">
            <a:avLst/>
          </a:prstGeom>
          <a:solidFill>
            <a:srgbClr val="F36D8D"/>
          </a:solidFill>
          <a:ln w="10000">
            <a:solidFill>
              <a:srgbClr val="F36D8D"/>
            </a:solidFill>
          </a:ln>
        </p:spPr>
      </p:sp>
      <p:sp>
        <p:nvSpPr>
          <p:cNvPr id="128" name="Text 128"/>
          <p:cNvSpPr/>
          <p:nvPr/>
        </p:nvSpPr>
        <p:spPr>
          <a:xfrm>
            <a:off x="7530000" y="2040000"/>
            <a:ext cx="2700000" cy="2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F36D8D"/>
                </a:solidFill>
                <a:latin typeface="Aptos"/>
              </a:rPr>
              <a:t>APPLICATION</a:t>
            </a:r>
            <a:endParaRPr lang="en-US" sz="1000"/>
          </a:p>
        </p:txBody>
      </p:sp>
      <p:sp>
        <p:nvSpPr>
          <p:cNvPr id="129" name="Text 129"/>
          <p:cNvSpPr/>
          <p:nvPr/>
        </p:nvSpPr>
        <p:spPr>
          <a:xfrm>
            <a:off x="7530000" y="2330000"/>
            <a:ext cx="27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true">
                <a:solidFill>
                  <a:srgbClr val="F7FAFC"/>
                </a:solidFill>
                <a:latin typeface="Aptos"/>
              </a:rPr>
              <a:t>Node.js + Express</a:t>
            </a:r>
            <a:endParaRPr lang="en-US" sz="1700"/>
          </a:p>
        </p:txBody>
      </p:sp>
      <p:sp>
        <p:nvSpPr>
          <p:cNvPr id="130" name="Text 130"/>
          <p:cNvSpPr/>
          <p:nvPr/>
        </p:nvSpPr>
        <p:spPr>
          <a:xfrm>
            <a:off x="7530000" y="2790000"/>
            <a:ext cx="2700000" cy="1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false">
                <a:solidFill>
                  <a:srgbClr val="9DABC0"/>
                </a:solidFill>
                <a:latin typeface="Aptos"/>
              </a:rPr>
              <a:t>Synthetic workload and application metrics.</a:t>
            </a:r>
            <a:endParaRPr lang="en-US" sz="1500"/>
          </a:p>
        </p:txBody>
      </p:sp>
      <p:sp>
        <p:nvSpPr>
          <p:cNvPr id="131" name="Box 131"/>
          <p:cNvSpPr/>
          <p:nvPr/>
        </p:nvSpPr>
        <p:spPr>
          <a:xfrm>
            <a:off x="850000" y="3600000"/>
            <a:ext cx="3000000" cy="1150000"/>
          </a:xfrm>
          <a:prstGeom prst="roundRect">
            <a:avLst/>
          </a:prstGeom>
          <a:solidFill>
            <a:srgbClr val="121B2E"/>
          </a:solidFill>
          <a:ln w="10000">
            <a:solidFill>
              <a:srgbClr val="23304A"/>
            </a:solidFill>
          </a:ln>
        </p:spPr>
      </p:sp>
      <p:sp>
        <p:nvSpPr>
          <p:cNvPr id="132" name="Box 132"/>
          <p:cNvSpPr/>
          <p:nvPr/>
        </p:nvSpPr>
        <p:spPr>
          <a:xfrm>
            <a:off x="850000" y="3600000"/>
            <a:ext cx="85000" cy="1150000"/>
          </a:xfrm>
          <a:prstGeom prst="rect">
            <a:avLst/>
          </a:prstGeom>
          <a:solidFill>
            <a:srgbClr val="FF8A3D"/>
          </a:solidFill>
          <a:ln w="10000">
            <a:solidFill>
              <a:srgbClr val="FF8A3D"/>
            </a:solidFill>
          </a:ln>
        </p:spPr>
      </p:sp>
      <p:sp>
        <p:nvSpPr>
          <p:cNvPr id="133" name="Text 133"/>
          <p:cNvSpPr/>
          <p:nvPr/>
        </p:nvSpPr>
        <p:spPr>
          <a:xfrm>
            <a:off x="1030000" y="3740000"/>
            <a:ext cx="2700000" cy="2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FF8A3D"/>
                </a:solidFill>
                <a:latin typeface="Aptos"/>
              </a:rPr>
              <a:t>COLLECT</a:t>
            </a:r>
            <a:endParaRPr lang="en-US" sz="1000"/>
          </a:p>
        </p:txBody>
      </p:sp>
      <p:sp>
        <p:nvSpPr>
          <p:cNvPr id="134" name="Text 134"/>
          <p:cNvSpPr/>
          <p:nvPr/>
        </p:nvSpPr>
        <p:spPr>
          <a:xfrm>
            <a:off x="1030000" y="4030000"/>
            <a:ext cx="27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true">
                <a:solidFill>
                  <a:srgbClr val="F7FAFC"/>
                </a:solidFill>
                <a:latin typeface="Aptos"/>
              </a:rPr>
              <a:t>Prometheus</a:t>
            </a:r>
            <a:endParaRPr lang="en-US" sz="1700"/>
          </a:p>
        </p:txBody>
      </p:sp>
      <p:sp>
        <p:nvSpPr>
          <p:cNvPr id="135" name="Text 135"/>
          <p:cNvSpPr/>
          <p:nvPr/>
        </p:nvSpPr>
        <p:spPr>
          <a:xfrm>
            <a:off x="1030000" y="4490000"/>
            <a:ext cx="2700000" cy="1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false">
                <a:solidFill>
                  <a:srgbClr val="9DABC0"/>
                </a:solidFill>
                <a:latin typeface="Aptos"/>
              </a:rPr>
              <a:t>Time series storage, PromQL, rule evaluation.</a:t>
            </a:r>
            <a:endParaRPr lang="en-US" sz="1500"/>
          </a:p>
        </p:txBody>
      </p:sp>
      <p:sp>
        <p:nvSpPr>
          <p:cNvPr id="136" name="Box 136"/>
          <p:cNvSpPr/>
          <p:nvPr/>
        </p:nvSpPr>
        <p:spPr>
          <a:xfrm>
            <a:off x="4100000" y="3600000"/>
            <a:ext cx="3000000" cy="1150000"/>
          </a:xfrm>
          <a:prstGeom prst="roundRect">
            <a:avLst/>
          </a:prstGeom>
          <a:solidFill>
            <a:srgbClr val="121B2E"/>
          </a:solidFill>
          <a:ln w="10000">
            <a:solidFill>
              <a:srgbClr val="23304A"/>
            </a:solidFill>
          </a:ln>
        </p:spPr>
      </p:sp>
      <p:sp>
        <p:nvSpPr>
          <p:cNvPr id="137" name="Box 137"/>
          <p:cNvSpPr/>
          <p:nvPr/>
        </p:nvSpPr>
        <p:spPr>
          <a:xfrm>
            <a:off x="4100000" y="3600000"/>
            <a:ext cx="85000" cy="1150000"/>
          </a:xfrm>
          <a:prstGeom prst="rect">
            <a:avLst/>
          </a:prstGeom>
          <a:solidFill>
            <a:srgbClr val="65D69C"/>
          </a:solidFill>
          <a:ln w="10000">
            <a:solidFill>
              <a:srgbClr val="65D69C"/>
            </a:solidFill>
          </a:ln>
        </p:spPr>
      </p:sp>
      <p:sp>
        <p:nvSpPr>
          <p:cNvPr id="138" name="Text 138"/>
          <p:cNvSpPr/>
          <p:nvPr/>
        </p:nvSpPr>
        <p:spPr>
          <a:xfrm>
            <a:off x="4280000" y="3740000"/>
            <a:ext cx="2700000" cy="2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65D69C"/>
                </a:solidFill>
                <a:latin typeface="Aptos"/>
              </a:rPr>
              <a:t>EXPLAIN</a:t>
            </a:r>
            <a:endParaRPr lang="en-US" sz="1000"/>
          </a:p>
        </p:txBody>
      </p:sp>
      <p:sp>
        <p:nvSpPr>
          <p:cNvPr id="139" name="Text 139"/>
          <p:cNvSpPr/>
          <p:nvPr/>
        </p:nvSpPr>
        <p:spPr>
          <a:xfrm>
            <a:off x="4280000" y="4030000"/>
            <a:ext cx="27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true">
                <a:solidFill>
                  <a:srgbClr val="F7FAFC"/>
                </a:solidFill>
                <a:latin typeface="Aptos"/>
              </a:rPr>
              <a:t>Grafana</a:t>
            </a:r>
            <a:endParaRPr lang="en-US" sz="1700"/>
          </a:p>
        </p:txBody>
      </p:sp>
      <p:sp>
        <p:nvSpPr>
          <p:cNvPr id="140" name="Text 140"/>
          <p:cNvSpPr/>
          <p:nvPr/>
        </p:nvSpPr>
        <p:spPr>
          <a:xfrm>
            <a:off x="4280000" y="4490000"/>
            <a:ext cx="2700000" cy="1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false">
                <a:solidFill>
                  <a:srgbClr val="9DABC0"/>
                </a:solidFill>
                <a:latin typeface="Aptos"/>
              </a:rPr>
              <a:t>Dashboards for trends, pressure, and error rate.</a:t>
            </a:r>
            <a:endParaRPr lang="en-US" sz="1500"/>
          </a:p>
        </p:txBody>
      </p:sp>
      <p:sp>
        <p:nvSpPr>
          <p:cNvPr id="141" name="Box 141"/>
          <p:cNvSpPr/>
          <p:nvPr/>
        </p:nvSpPr>
        <p:spPr>
          <a:xfrm>
            <a:off x="7350000" y="3600000"/>
            <a:ext cx="3000000" cy="1150000"/>
          </a:xfrm>
          <a:prstGeom prst="roundRect">
            <a:avLst/>
          </a:prstGeom>
          <a:solidFill>
            <a:srgbClr val="121B2E"/>
          </a:solidFill>
          <a:ln w="10000">
            <a:solidFill>
              <a:srgbClr val="23304A"/>
            </a:solidFill>
          </a:ln>
        </p:spPr>
      </p:sp>
      <p:sp>
        <p:nvSpPr>
          <p:cNvPr id="142" name="Box 142"/>
          <p:cNvSpPr/>
          <p:nvPr/>
        </p:nvSpPr>
        <p:spPr>
          <a:xfrm>
            <a:off x="7350000" y="3600000"/>
            <a:ext cx="85000" cy="1150000"/>
          </a:xfrm>
          <a:prstGeom prst="rect">
            <a:avLst/>
          </a:prstGeom>
          <a:solidFill>
            <a:srgbClr val="45D7E8"/>
          </a:solidFill>
          <a:ln w="10000">
            <a:solidFill>
              <a:srgbClr val="45D7E8"/>
            </a:solidFill>
          </a:ln>
        </p:spPr>
      </p:sp>
      <p:sp>
        <p:nvSpPr>
          <p:cNvPr id="143" name="Text 143"/>
          <p:cNvSpPr/>
          <p:nvPr/>
        </p:nvSpPr>
        <p:spPr>
          <a:xfrm>
            <a:off x="7530000" y="3740000"/>
            <a:ext cx="2700000" cy="2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45D7E8"/>
                </a:solidFill>
                <a:latin typeface="Aptos"/>
              </a:rPr>
              <a:t>INSTALL</a:t>
            </a:r>
            <a:endParaRPr lang="en-US" sz="1000"/>
          </a:p>
        </p:txBody>
      </p:sp>
      <p:sp>
        <p:nvSpPr>
          <p:cNvPr id="144" name="Text 144"/>
          <p:cNvSpPr/>
          <p:nvPr/>
        </p:nvSpPr>
        <p:spPr>
          <a:xfrm>
            <a:off x="7530000" y="4030000"/>
            <a:ext cx="27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true">
                <a:solidFill>
                  <a:srgbClr val="F7FAFC"/>
                </a:solidFill>
                <a:latin typeface="Aptos"/>
              </a:rPr>
              <a:t>Helm + exporters</a:t>
            </a:r>
            <a:endParaRPr lang="en-US" sz="1700"/>
          </a:p>
        </p:txBody>
      </p:sp>
      <p:sp>
        <p:nvSpPr>
          <p:cNvPr id="145" name="Text 145"/>
          <p:cNvSpPr/>
          <p:nvPr/>
        </p:nvSpPr>
        <p:spPr>
          <a:xfrm>
            <a:off x="7530000" y="4490000"/>
            <a:ext cx="2700000" cy="1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false">
                <a:solidFill>
                  <a:srgbClr val="9DABC0"/>
                </a:solidFill>
                <a:latin typeface="Aptos"/>
              </a:rPr>
              <a:t>Monitoring stack, object state, and node metrics.</a:t>
            </a:r>
            <a:endParaRPr lang="en-US" sz="1500"/>
          </a:p>
        </p:txBody>
      </p:sp>
      <p:sp>
        <p:nvSpPr>
          <p:cNvPr id="149" name="Text 149"/>
          <p:cNvSpPr/>
          <p:nvPr/>
        </p:nvSpPr>
        <p:spPr>
          <a:xfrm>
            <a:off x="650000" y="6570000"/>
            <a:ext cx="7000000" cy="1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900" b="true">
                <a:solidFill>
                  <a:srgbClr val="63758F"/>
                </a:solidFill>
                <a:latin typeface="Aptos"/>
              </a:rPr>
              <a:t>KUBERNETES WORKLOAD RELIABILITY  /  DEVOPS MINI-PROJECT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0" name="Box 1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020"/>
          </a:solidFill>
          <a:ln w="10000">
            <a:solidFill>
              <a:srgbClr val="0A1020"/>
            </a:solidFill>
          </a:ln>
        </p:spPr>
      </p:sp>
      <p:sp>
        <p:nvSpPr>
          <p:cNvPr id="171" name="Dot 171"/>
          <p:cNvSpPr/>
          <p:nvPr/>
        </p:nvSpPr>
        <p:spPr>
          <a:xfrm>
            <a:off x="11000000" y="500000"/>
            <a:ext cx="900000" cy="900000"/>
          </a:xfrm>
          <a:prstGeom prst="ellipse">
            <a:avLst/>
          </a:prstGeom>
          <a:solidFill>
            <a:srgbClr val="10263A"/>
          </a:solidFill>
          <a:ln>
            <a:noFill/>
          </a:ln>
        </p:spPr>
      </p:sp>
      <p:sp>
        <p:nvSpPr>
          <p:cNvPr id="172" name="Dot 172"/>
          <p:cNvSpPr/>
          <p:nvPr/>
        </p:nvSpPr>
        <p:spPr>
          <a:xfrm>
            <a:off x="11190000" y="690000"/>
            <a:ext cx="400000" cy="400000"/>
          </a:xfrm>
          <a:prstGeom prst="ellipse">
            <a:avLst/>
          </a:prstGeom>
          <a:solidFill>
            <a:srgbClr val="FF8A3D"/>
          </a:solidFill>
          <a:ln>
            <a:noFill/>
          </a:ln>
        </p:spPr>
      </p:sp>
      <p:sp>
        <p:nvSpPr>
          <p:cNvPr id="150" name="Text 150"/>
          <p:cNvSpPr/>
          <p:nvPr/>
        </p:nvSpPr>
        <p:spPr>
          <a:xfrm>
            <a:off x="650000" y="330000"/>
            <a:ext cx="30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FF8A3D"/>
                </a:solidFill>
                <a:latin typeface="Aptos"/>
              </a:rPr>
              <a:t>BUILD</a:t>
            </a:r>
            <a:endParaRPr lang="en-US" sz="1000"/>
          </a:p>
        </p:txBody>
      </p:sp>
      <p:sp>
        <p:nvSpPr>
          <p:cNvPr id="151" name="Text 151"/>
          <p:cNvSpPr/>
          <p:nvPr/>
        </p:nvSpPr>
        <p:spPr>
          <a:xfrm>
            <a:off x="650000" y="650000"/>
            <a:ext cx="105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700" b="true">
                <a:solidFill>
                  <a:srgbClr val="F7FAFC"/>
                </a:solidFill>
                <a:latin typeface="Aptos"/>
              </a:rPr>
              <a:t>Implementation: small files, clear contracts</a:t>
            </a:r>
            <a:endParaRPr lang="en-US" sz="2700"/>
          </a:p>
        </p:txBody>
      </p:sp>
      <p:sp>
        <p:nvSpPr>
          <p:cNvPr id="152" name="Text 152"/>
          <p:cNvSpPr/>
          <p:nvPr/>
        </p:nvSpPr>
        <p:spPr>
          <a:xfrm>
            <a:off x="11300000" y="430000"/>
            <a:ext cx="4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1200" b="true">
                <a:solidFill>
                  <a:srgbClr val="9DABC0"/>
                </a:solidFill>
                <a:latin typeface="Aptos"/>
              </a:rPr>
              <a:t>06</a:t>
            </a:r>
            <a:endParaRPr lang="en-US" sz="1200"/>
          </a:p>
        </p:txBody>
      </p:sp>
      <p:sp>
        <p:nvSpPr>
          <p:cNvPr id="153" name="Box 153"/>
          <p:cNvSpPr/>
          <p:nvPr/>
        </p:nvSpPr>
        <p:spPr>
          <a:xfrm>
            <a:off x="650000" y="1400000"/>
            <a:ext cx="11000000" cy="18000"/>
          </a:xfrm>
          <a:prstGeom prst="rect">
            <a:avLst/>
          </a:prstGeom>
          <a:solidFill>
            <a:srgbClr val="23304A"/>
          </a:solidFill>
          <a:ln w="10000">
            <a:solidFill>
              <a:srgbClr val="23304A"/>
            </a:solidFill>
          </a:ln>
        </p:spPr>
      </p:sp>
      <p:sp>
        <p:nvSpPr>
          <p:cNvPr id="154" name="Box 154"/>
          <p:cNvSpPr/>
          <p:nvPr/>
        </p:nvSpPr>
        <p:spPr>
          <a:xfrm>
            <a:off x="850000" y="1900000"/>
            <a:ext cx="3000000" cy="2200000"/>
          </a:xfrm>
          <a:prstGeom prst="roundRect">
            <a:avLst/>
          </a:prstGeom>
          <a:solidFill>
            <a:srgbClr val="121B2E"/>
          </a:solidFill>
          <a:ln w="10000">
            <a:solidFill>
              <a:srgbClr val="23304A"/>
            </a:solidFill>
          </a:ln>
        </p:spPr>
      </p:sp>
      <p:sp>
        <p:nvSpPr>
          <p:cNvPr id="155" name="Box 155"/>
          <p:cNvSpPr/>
          <p:nvPr/>
        </p:nvSpPr>
        <p:spPr>
          <a:xfrm>
            <a:off x="850000" y="1900000"/>
            <a:ext cx="85000" cy="2200000"/>
          </a:xfrm>
          <a:prstGeom prst="rect">
            <a:avLst/>
          </a:prstGeom>
          <a:solidFill>
            <a:srgbClr val="FF8A3D"/>
          </a:solidFill>
          <a:ln w="10000">
            <a:solidFill>
              <a:srgbClr val="FF8A3D"/>
            </a:solidFill>
          </a:ln>
        </p:spPr>
      </p:sp>
      <p:sp>
        <p:nvSpPr>
          <p:cNvPr id="156" name="Text 156"/>
          <p:cNvSpPr/>
          <p:nvPr/>
        </p:nvSpPr>
        <p:spPr>
          <a:xfrm>
            <a:off x="1030000" y="2040000"/>
            <a:ext cx="2700000" cy="2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FF8A3D"/>
                </a:solidFill>
                <a:latin typeface="Aptos"/>
              </a:rPr>
              <a:t>APP/</a:t>
            </a:r>
            <a:endParaRPr lang="en-US" sz="1000"/>
          </a:p>
        </p:txBody>
      </p:sp>
      <p:sp>
        <p:nvSpPr>
          <p:cNvPr id="157" name="Text 157"/>
          <p:cNvSpPr/>
          <p:nvPr/>
        </p:nvSpPr>
        <p:spPr>
          <a:xfrm>
            <a:off x="1030000" y="2330000"/>
            <a:ext cx="27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true">
                <a:solidFill>
                  <a:srgbClr val="F7FAFC"/>
                </a:solidFill>
                <a:latin typeface="Aptos"/>
              </a:rPr>
              <a:t>Application</a:t>
            </a:r>
            <a:endParaRPr lang="en-US" sz="1700"/>
          </a:p>
        </p:txBody>
      </p:sp>
      <p:sp>
        <p:nvSpPr>
          <p:cNvPr id="158" name="Text 158"/>
          <p:cNvSpPr/>
          <p:nvPr/>
        </p:nvSpPr>
        <p:spPr>
          <a:xfrm>
            <a:off x="1030000" y="2790000"/>
            <a:ext cx="2700000" cy="11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false">
                <a:solidFill>
                  <a:srgbClr val="9DABC0"/>
                </a:solidFill>
                <a:latin typeface="Aptos"/>
              </a:rPr>
              <a:t>server.js</a:t>
            </a:r>
            <a:endParaRPr lang="en-US" sz="1700"/>
          </a:p>
          <a:p>
            <a:pPr algn="l"/>
            <a:r>
              <a:rPr lang="en-US" sz="1700" b="false">
                <a:solidFill>
                  <a:srgbClr val="9DABC0"/>
                </a:solidFill>
                <a:latin typeface="Aptos"/>
              </a:rPr>
              <a:t>package.json</a:t>
            </a:r>
            <a:endParaRPr lang="en-US" sz="1700"/>
          </a:p>
          <a:p>
            <a:pPr algn="l"/>
            <a:r>
              <a:rPr lang="en-US" sz="1700" b="false">
                <a:solidFill>
                  <a:srgbClr val="9DABC0"/>
                </a:solidFill>
                <a:latin typeface="Aptos"/>
              </a:rPr>
              <a:t>Dockerfile</a:t>
            </a:r>
            <a:endParaRPr lang="en-US" sz="1700"/>
          </a:p>
        </p:txBody>
      </p:sp>
      <p:sp>
        <p:nvSpPr>
          <p:cNvPr id="159" name="Box 159"/>
          <p:cNvSpPr/>
          <p:nvPr/>
        </p:nvSpPr>
        <p:spPr>
          <a:xfrm>
            <a:off x="4100000" y="1900000"/>
            <a:ext cx="3000000" cy="2200000"/>
          </a:xfrm>
          <a:prstGeom prst="roundRect">
            <a:avLst/>
          </a:prstGeom>
          <a:solidFill>
            <a:srgbClr val="121B2E"/>
          </a:solidFill>
          <a:ln w="10000">
            <a:solidFill>
              <a:srgbClr val="23304A"/>
            </a:solidFill>
          </a:ln>
        </p:spPr>
      </p:sp>
      <p:sp>
        <p:nvSpPr>
          <p:cNvPr id="160" name="Box 160"/>
          <p:cNvSpPr/>
          <p:nvPr/>
        </p:nvSpPr>
        <p:spPr>
          <a:xfrm>
            <a:off x="4100000" y="1900000"/>
            <a:ext cx="85000" cy="2200000"/>
          </a:xfrm>
          <a:prstGeom prst="rect">
            <a:avLst/>
          </a:prstGeom>
          <a:solidFill>
            <a:srgbClr val="45D7E8"/>
          </a:solidFill>
          <a:ln w="10000">
            <a:solidFill>
              <a:srgbClr val="45D7E8"/>
            </a:solidFill>
          </a:ln>
        </p:spPr>
      </p:sp>
      <p:sp>
        <p:nvSpPr>
          <p:cNvPr id="161" name="Text 161"/>
          <p:cNvSpPr/>
          <p:nvPr/>
        </p:nvSpPr>
        <p:spPr>
          <a:xfrm>
            <a:off x="4280000" y="2040000"/>
            <a:ext cx="2700000" cy="2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45D7E8"/>
                </a:solidFill>
                <a:latin typeface="Aptos"/>
              </a:rPr>
              <a:t>K8S/</a:t>
            </a:r>
            <a:endParaRPr lang="en-US" sz="1000"/>
          </a:p>
        </p:txBody>
      </p:sp>
      <p:sp>
        <p:nvSpPr>
          <p:cNvPr id="162" name="Text 162"/>
          <p:cNvSpPr/>
          <p:nvPr/>
        </p:nvSpPr>
        <p:spPr>
          <a:xfrm>
            <a:off x="4280000" y="2330000"/>
            <a:ext cx="27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true">
                <a:solidFill>
                  <a:srgbClr val="F7FAFC"/>
                </a:solidFill>
                <a:latin typeface="Aptos"/>
              </a:rPr>
              <a:t>Kubernetes</a:t>
            </a:r>
            <a:endParaRPr lang="en-US" sz="1700"/>
          </a:p>
        </p:txBody>
      </p:sp>
      <p:sp>
        <p:nvSpPr>
          <p:cNvPr id="163" name="Text 163"/>
          <p:cNvSpPr/>
          <p:nvPr/>
        </p:nvSpPr>
        <p:spPr>
          <a:xfrm>
            <a:off x="4280000" y="2790000"/>
            <a:ext cx="2700000" cy="11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false">
                <a:solidFill>
                  <a:srgbClr val="9DABC0"/>
                </a:solidFill>
                <a:latin typeface="Aptos"/>
              </a:rPr>
              <a:t>app.yaml</a:t>
            </a:r>
            <a:endParaRPr lang="en-US" sz="1700"/>
          </a:p>
          <a:p>
            <a:pPr algn="l"/>
            <a:r>
              <a:rPr lang="en-US" sz="1700" b="false">
                <a:solidFill>
                  <a:srgbClr val="9DABC0"/>
                </a:solidFill>
                <a:latin typeface="Aptos"/>
              </a:rPr>
              <a:t>servicemonitor.yaml</a:t>
            </a:r>
            <a:endParaRPr lang="en-US" sz="1700"/>
          </a:p>
          <a:p>
            <a:pPr algn="l"/>
            <a:r>
              <a:rPr lang="en-US" sz="1700" b="false">
                <a:solidFill>
                  <a:srgbClr val="9DABC0"/>
                </a:solidFill>
                <a:latin typeface="Aptos"/>
              </a:rPr>
              <a:t>alerts.yaml</a:t>
            </a:r>
            <a:endParaRPr lang="en-US" sz="1700"/>
          </a:p>
          <a:p>
            <a:pPr algn="l"/>
            <a:r>
              <a:rPr lang="en-US" sz="1700" b="false">
                <a:solidFill>
                  <a:srgbClr val="9DABC0"/>
                </a:solidFill>
                <a:latin typeface="Aptos"/>
              </a:rPr>
              <a:t>dashboard.yaml</a:t>
            </a:r>
            <a:endParaRPr lang="en-US" sz="1700"/>
          </a:p>
        </p:txBody>
      </p:sp>
      <p:sp>
        <p:nvSpPr>
          <p:cNvPr id="164" name="Box 164"/>
          <p:cNvSpPr/>
          <p:nvPr/>
        </p:nvSpPr>
        <p:spPr>
          <a:xfrm>
            <a:off x="7350000" y="1900000"/>
            <a:ext cx="3000000" cy="2200000"/>
          </a:xfrm>
          <a:prstGeom prst="roundRect">
            <a:avLst/>
          </a:prstGeom>
          <a:solidFill>
            <a:srgbClr val="121B2E"/>
          </a:solidFill>
          <a:ln w="10000">
            <a:solidFill>
              <a:srgbClr val="23304A"/>
            </a:solidFill>
          </a:ln>
        </p:spPr>
      </p:sp>
      <p:sp>
        <p:nvSpPr>
          <p:cNvPr id="165" name="Box 165"/>
          <p:cNvSpPr/>
          <p:nvPr/>
        </p:nvSpPr>
        <p:spPr>
          <a:xfrm>
            <a:off x="7350000" y="1900000"/>
            <a:ext cx="85000" cy="2200000"/>
          </a:xfrm>
          <a:prstGeom prst="rect">
            <a:avLst/>
          </a:prstGeom>
          <a:solidFill>
            <a:srgbClr val="65D69C"/>
          </a:solidFill>
          <a:ln w="10000">
            <a:solidFill>
              <a:srgbClr val="65D69C"/>
            </a:solidFill>
          </a:ln>
        </p:spPr>
      </p:sp>
      <p:sp>
        <p:nvSpPr>
          <p:cNvPr id="166" name="Text 166"/>
          <p:cNvSpPr/>
          <p:nvPr/>
        </p:nvSpPr>
        <p:spPr>
          <a:xfrm>
            <a:off x="7530000" y="2040000"/>
            <a:ext cx="2700000" cy="2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65D69C"/>
                </a:solidFill>
                <a:latin typeface="Aptos"/>
              </a:rPr>
              <a:t>SCRIPTS/</a:t>
            </a:r>
            <a:endParaRPr lang="en-US" sz="1000"/>
          </a:p>
        </p:txBody>
      </p:sp>
      <p:sp>
        <p:nvSpPr>
          <p:cNvPr id="167" name="Text 167"/>
          <p:cNvSpPr/>
          <p:nvPr/>
        </p:nvSpPr>
        <p:spPr>
          <a:xfrm>
            <a:off x="7530000" y="2330000"/>
            <a:ext cx="27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true">
                <a:solidFill>
                  <a:srgbClr val="F7FAFC"/>
                </a:solidFill>
                <a:latin typeface="Aptos"/>
              </a:rPr>
              <a:t>Automation</a:t>
            </a:r>
            <a:endParaRPr lang="en-US" sz="1700"/>
          </a:p>
        </p:txBody>
      </p:sp>
      <p:sp>
        <p:nvSpPr>
          <p:cNvPr id="168" name="Text 168"/>
          <p:cNvSpPr/>
          <p:nvPr/>
        </p:nvSpPr>
        <p:spPr>
          <a:xfrm>
            <a:off x="7530000" y="2790000"/>
            <a:ext cx="2700000" cy="11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false">
                <a:solidFill>
                  <a:srgbClr val="9DABC0"/>
                </a:solidFill>
                <a:latin typeface="Aptos"/>
              </a:rPr>
              <a:t>build.ps1</a:t>
            </a:r>
            <a:endParaRPr lang="en-US" sz="1700"/>
          </a:p>
          <a:p>
            <a:pPr algn="l"/>
            <a:r>
              <a:rPr lang="en-US" sz="1700" b="false">
                <a:solidFill>
                  <a:srgbClr val="9DABC0"/>
                </a:solidFill>
                <a:latin typeface="Aptos"/>
              </a:rPr>
              <a:t>install-monitoring.ps1</a:t>
            </a:r>
            <a:endParaRPr lang="en-US" sz="1700"/>
          </a:p>
          <a:p>
            <a:pPr algn="l"/>
            <a:r>
              <a:rPr lang="en-US" sz="1700" b="false">
                <a:solidFill>
                  <a:srgbClr val="9DABC0"/>
                </a:solidFill>
                <a:latin typeface="Aptos"/>
              </a:rPr>
              <a:t>deploy.ps1</a:t>
            </a:r>
            <a:endParaRPr lang="en-US" sz="1700"/>
          </a:p>
          <a:p>
            <a:pPr algn="l"/>
            <a:r>
              <a:rPr lang="en-US" sz="1700" b="false">
                <a:solidFill>
                  <a:srgbClr val="9DABC0"/>
                </a:solidFill>
                <a:latin typeface="Aptos"/>
              </a:rPr>
              <a:t>run-experiments.ps1</a:t>
            </a:r>
            <a:endParaRPr lang="en-US" sz="1700"/>
          </a:p>
        </p:txBody>
      </p:sp>
      <p:sp>
        <p:nvSpPr>
          <p:cNvPr id="169" name="Text 169"/>
          <p:cNvSpPr/>
          <p:nvPr/>
        </p:nvSpPr>
        <p:spPr>
          <a:xfrm>
            <a:off x="850000" y="5000000"/>
            <a:ext cx="9300000" cy="4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000" b="true">
                <a:solidFill>
                  <a:srgbClr val="F7FAFC"/>
                </a:solidFill>
                <a:latin typeface="Aptos"/>
              </a:rPr>
              <a:t>The project is intentionally easy to inspect, run, and explain in a viva.</a:t>
            </a:r>
            <a:endParaRPr lang="en-US" sz="2000"/>
          </a:p>
        </p:txBody>
      </p:sp>
      <p:sp>
        <p:nvSpPr>
          <p:cNvPr id="173" name="Text 173"/>
          <p:cNvSpPr/>
          <p:nvPr/>
        </p:nvSpPr>
        <p:spPr>
          <a:xfrm>
            <a:off x="650000" y="6570000"/>
            <a:ext cx="7000000" cy="1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900" b="true">
                <a:solidFill>
                  <a:srgbClr val="63758F"/>
                </a:solidFill>
                <a:latin typeface="Aptos"/>
              </a:rPr>
              <a:t>KUBERNETES WORKLOAD RELIABILITY  /  DEVOPS MINI-PROJECT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3" name="Box 20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020"/>
          </a:solidFill>
          <a:ln w="10000">
            <a:solidFill>
              <a:srgbClr val="0A1020"/>
            </a:solidFill>
          </a:ln>
        </p:spPr>
      </p:sp>
      <p:sp>
        <p:nvSpPr>
          <p:cNvPr id="204" name="Dot 204"/>
          <p:cNvSpPr/>
          <p:nvPr/>
        </p:nvSpPr>
        <p:spPr>
          <a:xfrm>
            <a:off x="11000000" y="500000"/>
            <a:ext cx="900000" cy="900000"/>
          </a:xfrm>
          <a:prstGeom prst="ellipse">
            <a:avLst/>
          </a:prstGeom>
          <a:solidFill>
            <a:srgbClr val="10263A"/>
          </a:solidFill>
          <a:ln>
            <a:noFill/>
          </a:ln>
        </p:spPr>
      </p:sp>
      <p:sp>
        <p:nvSpPr>
          <p:cNvPr id="205" name="Dot 205"/>
          <p:cNvSpPr/>
          <p:nvPr/>
        </p:nvSpPr>
        <p:spPr>
          <a:xfrm>
            <a:off x="11190000" y="690000"/>
            <a:ext cx="400000" cy="400000"/>
          </a:xfrm>
          <a:prstGeom prst="ellipse">
            <a:avLst/>
          </a:prstGeom>
          <a:solidFill>
            <a:srgbClr val="FF8A3D"/>
          </a:solidFill>
          <a:ln>
            <a:noFill/>
          </a:ln>
        </p:spPr>
      </p:sp>
      <p:sp>
        <p:nvSpPr>
          <p:cNvPr id="174" name="Text 174"/>
          <p:cNvSpPr/>
          <p:nvPr/>
        </p:nvSpPr>
        <p:spPr>
          <a:xfrm>
            <a:off x="650000" y="330000"/>
            <a:ext cx="30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FF8A3D"/>
                </a:solidFill>
                <a:latin typeface="Aptos"/>
              </a:rPr>
              <a:t>METRICS</a:t>
            </a:r>
            <a:endParaRPr lang="en-US" sz="1000"/>
          </a:p>
        </p:txBody>
      </p:sp>
      <p:sp>
        <p:nvSpPr>
          <p:cNvPr id="175" name="Text 175"/>
          <p:cNvSpPr/>
          <p:nvPr/>
        </p:nvSpPr>
        <p:spPr>
          <a:xfrm>
            <a:off x="650000" y="650000"/>
            <a:ext cx="105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700" b="true">
                <a:solidFill>
                  <a:srgbClr val="F7FAFC"/>
                </a:solidFill>
                <a:latin typeface="Aptos"/>
              </a:rPr>
              <a:t>Five signals, one reliability story</a:t>
            </a:r>
            <a:endParaRPr lang="en-US" sz="2700"/>
          </a:p>
        </p:txBody>
      </p:sp>
      <p:sp>
        <p:nvSpPr>
          <p:cNvPr id="176" name="Text 176"/>
          <p:cNvSpPr/>
          <p:nvPr/>
        </p:nvSpPr>
        <p:spPr>
          <a:xfrm>
            <a:off x="11300000" y="430000"/>
            <a:ext cx="4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1200" b="true">
                <a:solidFill>
                  <a:srgbClr val="9DABC0"/>
                </a:solidFill>
                <a:latin typeface="Aptos"/>
              </a:rPr>
              <a:t>07</a:t>
            </a:r>
            <a:endParaRPr lang="en-US" sz="1200"/>
          </a:p>
        </p:txBody>
      </p:sp>
      <p:sp>
        <p:nvSpPr>
          <p:cNvPr id="177" name="Box 177"/>
          <p:cNvSpPr/>
          <p:nvPr/>
        </p:nvSpPr>
        <p:spPr>
          <a:xfrm>
            <a:off x="650000" y="1400000"/>
            <a:ext cx="11000000" cy="18000"/>
          </a:xfrm>
          <a:prstGeom prst="rect">
            <a:avLst/>
          </a:prstGeom>
          <a:solidFill>
            <a:srgbClr val="23304A"/>
          </a:solidFill>
          <a:ln w="10000">
            <a:solidFill>
              <a:srgbClr val="23304A"/>
            </a:solidFill>
          </a:ln>
        </p:spPr>
      </p:sp>
      <p:sp>
        <p:nvSpPr>
          <p:cNvPr id="178" name="Box 178"/>
          <p:cNvSpPr/>
          <p:nvPr/>
        </p:nvSpPr>
        <p:spPr>
          <a:xfrm>
            <a:off x="850000" y="1900000"/>
            <a:ext cx="3000000" cy="1500000"/>
          </a:xfrm>
          <a:prstGeom prst="roundRect">
            <a:avLst/>
          </a:prstGeom>
          <a:solidFill>
            <a:srgbClr val="121B2E"/>
          </a:solidFill>
          <a:ln w="10000">
            <a:solidFill>
              <a:srgbClr val="23304A"/>
            </a:solidFill>
          </a:ln>
        </p:spPr>
      </p:sp>
      <p:sp>
        <p:nvSpPr>
          <p:cNvPr id="179" name="Box 179"/>
          <p:cNvSpPr/>
          <p:nvPr/>
        </p:nvSpPr>
        <p:spPr>
          <a:xfrm>
            <a:off x="850000" y="1900000"/>
            <a:ext cx="85000" cy="1500000"/>
          </a:xfrm>
          <a:prstGeom prst="rect">
            <a:avLst/>
          </a:prstGeom>
          <a:solidFill>
            <a:srgbClr val="FF8A3D"/>
          </a:solidFill>
          <a:ln w="10000">
            <a:solidFill>
              <a:srgbClr val="FF8A3D"/>
            </a:solidFill>
          </a:ln>
        </p:spPr>
      </p:sp>
      <p:sp>
        <p:nvSpPr>
          <p:cNvPr id="180" name="Text 180"/>
          <p:cNvSpPr/>
          <p:nvPr/>
        </p:nvSpPr>
        <p:spPr>
          <a:xfrm>
            <a:off x="1030000" y="2040000"/>
            <a:ext cx="2700000" cy="2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FF8A3D"/>
                </a:solidFill>
                <a:latin typeface="Aptos"/>
              </a:rPr>
              <a:t>01</a:t>
            </a:r>
            <a:endParaRPr lang="en-US" sz="1000"/>
          </a:p>
        </p:txBody>
      </p:sp>
      <p:sp>
        <p:nvSpPr>
          <p:cNvPr id="181" name="Text 181"/>
          <p:cNvSpPr/>
          <p:nvPr/>
        </p:nvSpPr>
        <p:spPr>
          <a:xfrm>
            <a:off x="1030000" y="2330000"/>
            <a:ext cx="27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true">
                <a:solidFill>
                  <a:srgbClr val="F7FAFC"/>
                </a:solidFill>
                <a:latin typeface="Aptos"/>
              </a:rPr>
              <a:t>CPU % of limit</a:t>
            </a:r>
            <a:endParaRPr lang="en-US" sz="1700"/>
          </a:p>
        </p:txBody>
      </p:sp>
      <p:sp>
        <p:nvSpPr>
          <p:cNvPr id="182" name="Text 182"/>
          <p:cNvSpPr/>
          <p:nvPr/>
        </p:nvSpPr>
        <p:spPr>
          <a:xfrm>
            <a:off x="1030000" y="2790000"/>
            <a:ext cx="2700000" cy="4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false">
                <a:solidFill>
                  <a:srgbClr val="9DABC0"/>
                </a:solidFill>
                <a:latin typeface="Aptos"/>
              </a:rPr>
              <a:t>Resource pressure</a:t>
            </a:r>
            <a:endParaRPr lang="en-US" sz="1400"/>
          </a:p>
          <a:p>
            <a:pPr algn="l"/>
            <a:r>
              <a:rPr lang="en-US" sz="1400" b="false">
                <a:solidFill>
                  <a:srgbClr val="9DABC0"/>
                </a:solidFill>
                <a:latin typeface="Aptos"/>
              </a:rPr>
              <a:t>container_cpu_usage_seconds_total</a:t>
            </a:r>
            <a:endParaRPr lang="en-US" sz="1400"/>
          </a:p>
        </p:txBody>
      </p:sp>
      <p:sp>
        <p:nvSpPr>
          <p:cNvPr id="183" name="Box 183"/>
          <p:cNvSpPr/>
          <p:nvPr/>
        </p:nvSpPr>
        <p:spPr>
          <a:xfrm>
            <a:off x="4100000" y="1900000"/>
            <a:ext cx="3000000" cy="1500000"/>
          </a:xfrm>
          <a:prstGeom prst="roundRect">
            <a:avLst/>
          </a:prstGeom>
          <a:solidFill>
            <a:srgbClr val="121B2E"/>
          </a:solidFill>
          <a:ln w="10000">
            <a:solidFill>
              <a:srgbClr val="23304A"/>
            </a:solidFill>
          </a:ln>
        </p:spPr>
      </p:sp>
      <p:sp>
        <p:nvSpPr>
          <p:cNvPr id="184" name="Box 184"/>
          <p:cNvSpPr/>
          <p:nvPr/>
        </p:nvSpPr>
        <p:spPr>
          <a:xfrm>
            <a:off x="4100000" y="1900000"/>
            <a:ext cx="85000" cy="1500000"/>
          </a:xfrm>
          <a:prstGeom prst="rect">
            <a:avLst/>
          </a:prstGeom>
          <a:solidFill>
            <a:srgbClr val="F36D8D"/>
          </a:solidFill>
          <a:ln w="10000">
            <a:solidFill>
              <a:srgbClr val="F36D8D"/>
            </a:solidFill>
          </a:ln>
        </p:spPr>
      </p:sp>
      <p:sp>
        <p:nvSpPr>
          <p:cNvPr id="185" name="Text 185"/>
          <p:cNvSpPr/>
          <p:nvPr/>
        </p:nvSpPr>
        <p:spPr>
          <a:xfrm>
            <a:off x="4280000" y="2040000"/>
            <a:ext cx="2700000" cy="2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F36D8D"/>
                </a:solidFill>
                <a:latin typeface="Aptos"/>
              </a:rPr>
              <a:t>02</a:t>
            </a:r>
            <a:endParaRPr lang="en-US" sz="1000"/>
          </a:p>
        </p:txBody>
      </p:sp>
      <p:sp>
        <p:nvSpPr>
          <p:cNvPr id="186" name="Text 186"/>
          <p:cNvSpPr/>
          <p:nvPr/>
        </p:nvSpPr>
        <p:spPr>
          <a:xfrm>
            <a:off x="4280000" y="2330000"/>
            <a:ext cx="27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true">
                <a:solidFill>
                  <a:srgbClr val="F7FAFC"/>
                </a:solidFill>
                <a:latin typeface="Aptos"/>
              </a:rPr>
              <a:t>Memory % of limit</a:t>
            </a:r>
            <a:endParaRPr lang="en-US" sz="1700"/>
          </a:p>
        </p:txBody>
      </p:sp>
      <p:sp>
        <p:nvSpPr>
          <p:cNvPr id="187" name="Text 187"/>
          <p:cNvSpPr/>
          <p:nvPr/>
        </p:nvSpPr>
        <p:spPr>
          <a:xfrm>
            <a:off x="4280000" y="2790000"/>
            <a:ext cx="2700000" cy="4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false">
                <a:solidFill>
                  <a:srgbClr val="9DABC0"/>
                </a:solidFill>
                <a:latin typeface="Aptos"/>
              </a:rPr>
              <a:t>Working set / memory limit</a:t>
            </a:r>
            <a:endParaRPr lang="en-US" sz="1400"/>
          </a:p>
          <a:p>
            <a:pPr algn="l"/>
            <a:r>
              <a:rPr lang="en-US" sz="1400" b="false">
                <a:solidFill>
                  <a:srgbClr val="9DABC0"/>
                </a:solidFill>
                <a:latin typeface="Aptos"/>
              </a:rPr>
              <a:t>OOM risk context</a:t>
            </a:r>
            <a:endParaRPr lang="en-US" sz="1400"/>
          </a:p>
        </p:txBody>
      </p:sp>
      <p:sp>
        <p:nvSpPr>
          <p:cNvPr id="188" name="Box 188"/>
          <p:cNvSpPr/>
          <p:nvPr/>
        </p:nvSpPr>
        <p:spPr>
          <a:xfrm>
            <a:off x="7350000" y="1900000"/>
            <a:ext cx="3000000" cy="1500000"/>
          </a:xfrm>
          <a:prstGeom prst="roundRect">
            <a:avLst/>
          </a:prstGeom>
          <a:solidFill>
            <a:srgbClr val="121B2E"/>
          </a:solidFill>
          <a:ln w="10000">
            <a:solidFill>
              <a:srgbClr val="23304A"/>
            </a:solidFill>
          </a:ln>
        </p:spPr>
      </p:sp>
      <p:sp>
        <p:nvSpPr>
          <p:cNvPr id="189" name="Box 189"/>
          <p:cNvSpPr/>
          <p:nvPr/>
        </p:nvSpPr>
        <p:spPr>
          <a:xfrm>
            <a:off x="7350000" y="1900000"/>
            <a:ext cx="85000" cy="1500000"/>
          </a:xfrm>
          <a:prstGeom prst="rect">
            <a:avLst/>
          </a:prstGeom>
          <a:solidFill>
            <a:srgbClr val="F7C95D"/>
          </a:solidFill>
          <a:ln w="10000">
            <a:solidFill>
              <a:srgbClr val="F7C95D"/>
            </a:solidFill>
          </a:ln>
        </p:spPr>
      </p:sp>
      <p:sp>
        <p:nvSpPr>
          <p:cNvPr id="190" name="Text 190"/>
          <p:cNvSpPr/>
          <p:nvPr/>
        </p:nvSpPr>
        <p:spPr>
          <a:xfrm>
            <a:off x="7530000" y="2040000"/>
            <a:ext cx="2700000" cy="2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F7C95D"/>
                </a:solidFill>
                <a:latin typeface="Aptos"/>
              </a:rPr>
              <a:t>03</a:t>
            </a:r>
            <a:endParaRPr lang="en-US" sz="1000"/>
          </a:p>
        </p:txBody>
      </p:sp>
      <p:sp>
        <p:nvSpPr>
          <p:cNvPr id="191" name="Text 191"/>
          <p:cNvSpPr/>
          <p:nvPr/>
        </p:nvSpPr>
        <p:spPr>
          <a:xfrm>
            <a:off x="7530000" y="2330000"/>
            <a:ext cx="27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true">
                <a:solidFill>
                  <a:srgbClr val="F7FAFC"/>
                </a:solidFill>
                <a:latin typeface="Aptos"/>
              </a:rPr>
              <a:t>Pod restarts</a:t>
            </a:r>
            <a:endParaRPr lang="en-US" sz="1700"/>
          </a:p>
        </p:txBody>
      </p:sp>
      <p:sp>
        <p:nvSpPr>
          <p:cNvPr id="192" name="Text 192"/>
          <p:cNvSpPr/>
          <p:nvPr/>
        </p:nvSpPr>
        <p:spPr>
          <a:xfrm>
            <a:off x="7530000" y="2790000"/>
            <a:ext cx="2700000" cy="4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false">
                <a:solidFill>
                  <a:srgbClr val="9DABC0"/>
                </a:solidFill>
                <a:latin typeface="Aptos"/>
              </a:rPr>
              <a:t>Container restart counter</a:t>
            </a:r>
            <a:endParaRPr lang="en-US" sz="1400"/>
          </a:p>
          <a:p>
            <a:pPr algn="l"/>
            <a:r>
              <a:rPr lang="en-US" sz="1400" b="false">
                <a:solidFill>
                  <a:srgbClr val="9DABC0"/>
                </a:solidFill>
                <a:latin typeface="Aptos"/>
              </a:rPr>
              <a:t>What recovered?</a:t>
            </a:r>
            <a:endParaRPr lang="en-US" sz="1400"/>
          </a:p>
        </p:txBody>
      </p:sp>
      <p:sp>
        <p:nvSpPr>
          <p:cNvPr id="193" name="Box 193"/>
          <p:cNvSpPr/>
          <p:nvPr/>
        </p:nvSpPr>
        <p:spPr>
          <a:xfrm>
            <a:off x="2500000" y="4000000"/>
            <a:ext cx="3000000" cy="1500000"/>
          </a:xfrm>
          <a:prstGeom prst="roundRect">
            <a:avLst/>
          </a:prstGeom>
          <a:solidFill>
            <a:srgbClr val="121B2E"/>
          </a:solidFill>
          <a:ln w="10000">
            <a:solidFill>
              <a:srgbClr val="23304A"/>
            </a:solidFill>
          </a:ln>
        </p:spPr>
      </p:sp>
      <p:sp>
        <p:nvSpPr>
          <p:cNvPr id="194" name="Box 194"/>
          <p:cNvSpPr/>
          <p:nvPr/>
        </p:nvSpPr>
        <p:spPr>
          <a:xfrm>
            <a:off x="2500000" y="4000000"/>
            <a:ext cx="85000" cy="1500000"/>
          </a:xfrm>
          <a:prstGeom prst="rect">
            <a:avLst/>
          </a:prstGeom>
          <a:solidFill>
            <a:srgbClr val="45D7E8"/>
          </a:solidFill>
          <a:ln w="10000">
            <a:solidFill>
              <a:srgbClr val="45D7E8"/>
            </a:solidFill>
          </a:ln>
        </p:spPr>
      </p:sp>
      <p:sp>
        <p:nvSpPr>
          <p:cNvPr id="195" name="Text 195"/>
          <p:cNvSpPr/>
          <p:nvPr/>
        </p:nvSpPr>
        <p:spPr>
          <a:xfrm>
            <a:off x="2680000" y="4140000"/>
            <a:ext cx="2700000" cy="2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45D7E8"/>
                </a:solidFill>
                <a:latin typeface="Aptos"/>
              </a:rPr>
              <a:t>04</a:t>
            </a:r>
            <a:endParaRPr lang="en-US" sz="1000"/>
          </a:p>
        </p:txBody>
      </p:sp>
      <p:sp>
        <p:nvSpPr>
          <p:cNvPr id="196" name="Text 196"/>
          <p:cNvSpPr/>
          <p:nvPr/>
        </p:nvSpPr>
        <p:spPr>
          <a:xfrm>
            <a:off x="2680000" y="4430000"/>
            <a:ext cx="27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true">
                <a:solidFill>
                  <a:srgbClr val="F7FAFC"/>
                </a:solidFill>
                <a:latin typeface="Aptos"/>
              </a:rPr>
              <a:t>HTTP request rate</a:t>
            </a:r>
            <a:endParaRPr lang="en-US" sz="1700"/>
          </a:p>
        </p:txBody>
      </p:sp>
      <p:sp>
        <p:nvSpPr>
          <p:cNvPr id="197" name="Text 197"/>
          <p:cNvSpPr/>
          <p:nvPr/>
        </p:nvSpPr>
        <p:spPr>
          <a:xfrm>
            <a:off x="2680000" y="4890000"/>
            <a:ext cx="2700000" cy="4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false">
                <a:solidFill>
                  <a:srgbClr val="9DABC0"/>
                </a:solidFill>
                <a:latin typeface="Aptos"/>
              </a:rPr>
              <a:t>Traffic shape by status</a:t>
            </a:r>
            <a:endParaRPr lang="en-US" sz="1400"/>
          </a:p>
          <a:p>
            <a:pPr algn="l"/>
            <a:r>
              <a:rPr lang="en-US" sz="1400" b="false">
                <a:solidFill>
                  <a:srgbClr val="9DABC0"/>
                </a:solidFill>
                <a:latin typeface="Aptos"/>
              </a:rPr>
              <a:t>What is the app doing?</a:t>
            </a:r>
            <a:endParaRPr lang="en-US" sz="1400"/>
          </a:p>
        </p:txBody>
      </p:sp>
      <p:sp>
        <p:nvSpPr>
          <p:cNvPr id="198" name="Box 198"/>
          <p:cNvSpPr/>
          <p:nvPr/>
        </p:nvSpPr>
        <p:spPr>
          <a:xfrm>
            <a:off x="6100000" y="4000000"/>
            <a:ext cx="3000000" cy="1500000"/>
          </a:xfrm>
          <a:prstGeom prst="roundRect">
            <a:avLst/>
          </a:prstGeom>
          <a:solidFill>
            <a:srgbClr val="121B2E"/>
          </a:solidFill>
          <a:ln w="10000">
            <a:solidFill>
              <a:srgbClr val="23304A"/>
            </a:solidFill>
          </a:ln>
        </p:spPr>
      </p:sp>
      <p:sp>
        <p:nvSpPr>
          <p:cNvPr id="199" name="Box 199"/>
          <p:cNvSpPr/>
          <p:nvPr/>
        </p:nvSpPr>
        <p:spPr>
          <a:xfrm>
            <a:off x="6100000" y="4000000"/>
            <a:ext cx="85000" cy="1500000"/>
          </a:xfrm>
          <a:prstGeom prst="rect">
            <a:avLst/>
          </a:prstGeom>
          <a:solidFill>
            <a:srgbClr val="65D69C"/>
          </a:solidFill>
          <a:ln w="10000">
            <a:solidFill>
              <a:srgbClr val="65D69C"/>
            </a:solidFill>
          </a:ln>
        </p:spPr>
      </p:sp>
      <p:sp>
        <p:nvSpPr>
          <p:cNvPr id="200" name="Text 200"/>
          <p:cNvSpPr/>
          <p:nvPr/>
        </p:nvSpPr>
        <p:spPr>
          <a:xfrm>
            <a:off x="6280000" y="4140000"/>
            <a:ext cx="2700000" cy="2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65D69C"/>
                </a:solidFill>
                <a:latin typeface="Aptos"/>
              </a:rPr>
              <a:t>05</a:t>
            </a:r>
            <a:endParaRPr lang="en-US" sz="1000"/>
          </a:p>
        </p:txBody>
      </p:sp>
      <p:sp>
        <p:nvSpPr>
          <p:cNvPr id="201" name="Text 201"/>
          <p:cNvSpPr/>
          <p:nvPr/>
        </p:nvSpPr>
        <p:spPr>
          <a:xfrm>
            <a:off x="6280000" y="4430000"/>
            <a:ext cx="27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true">
                <a:solidFill>
                  <a:srgbClr val="F7FAFC"/>
                </a:solidFill>
                <a:latin typeface="Aptos"/>
              </a:rPr>
              <a:t>HTTP 5xx rate</a:t>
            </a:r>
            <a:endParaRPr lang="en-US" sz="1700"/>
          </a:p>
        </p:txBody>
      </p:sp>
      <p:sp>
        <p:nvSpPr>
          <p:cNvPr id="202" name="Text 202"/>
          <p:cNvSpPr/>
          <p:nvPr/>
        </p:nvSpPr>
        <p:spPr>
          <a:xfrm>
            <a:off x="6280000" y="4890000"/>
            <a:ext cx="2700000" cy="4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false">
                <a:solidFill>
                  <a:srgbClr val="9DABC0"/>
                </a:solidFill>
                <a:latin typeface="Aptos"/>
              </a:rPr>
              <a:t>Application failure signal</a:t>
            </a:r>
            <a:endParaRPr lang="en-US" sz="1400"/>
          </a:p>
          <a:p>
            <a:pPr algn="l"/>
            <a:r>
              <a:rPr lang="en-US" sz="1400" b="false">
                <a:solidFill>
                  <a:srgbClr val="9DABC0"/>
                </a:solidFill>
                <a:latin typeface="Aptos"/>
              </a:rPr>
              <a:t>Will the alert fire?</a:t>
            </a:r>
            <a:endParaRPr lang="en-US" sz="1400"/>
          </a:p>
        </p:txBody>
      </p:sp>
      <p:sp>
        <p:nvSpPr>
          <p:cNvPr id="206" name="Text 206"/>
          <p:cNvSpPr/>
          <p:nvPr/>
        </p:nvSpPr>
        <p:spPr>
          <a:xfrm>
            <a:off x="650000" y="6570000"/>
            <a:ext cx="7000000" cy="1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900" b="true">
                <a:solidFill>
                  <a:srgbClr val="63758F"/>
                </a:solidFill>
                <a:latin typeface="Aptos"/>
              </a:rPr>
              <a:t>KUBERNETES WORKLOAD RELIABILITY  /  DEVOPS MINI-PROJECT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6" name="Box 23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020"/>
          </a:solidFill>
          <a:ln w="10000">
            <a:solidFill>
              <a:srgbClr val="0A1020"/>
            </a:solidFill>
          </a:ln>
        </p:spPr>
      </p:sp>
      <p:sp>
        <p:nvSpPr>
          <p:cNvPr id="237" name="Dot 237"/>
          <p:cNvSpPr/>
          <p:nvPr/>
        </p:nvSpPr>
        <p:spPr>
          <a:xfrm>
            <a:off x="11000000" y="500000"/>
            <a:ext cx="900000" cy="900000"/>
          </a:xfrm>
          <a:prstGeom prst="ellipse">
            <a:avLst/>
          </a:prstGeom>
          <a:solidFill>
            <a:srgbClr val="10263A"/>
          </a:solidFill>
          <a:ln>
            <a:noFill/>
          </a:ln>
        </p:spPr>
      </p:sp>
      <p:sp>
        <p:nvSpPr>
          <p:cNvPr id="238" name="Dot 238"/>
          <p:cNvSpPr/>
          <p:nvPr/>
        </p:nvSpPr>
        <p:spPr>
          <a:xfrm>
            <a:off x="11190000" y="690000"/>
            <a:ext cx="400000" cy="400000"/>
          </a:xfrm>
          <a:prstGeom prst="ellipse">
            <a:avLst/>
          </a:prstGeom>
          <a:solidFill>
            <a:srgbClr val="FF8A3D"/>
          </a:solidFill>
          <a:ln>
            <a:noFill/>
          </a:ln>
        </p:spPr>
      </p:sp>
      <p:sp>
        <p:nvSpPr>
          <p:cNvPr id="207" name="Text 207"/>
          <p:cNvSpPr/>
          <p:nvPr/>
        </p:nvSpPr>
        <p:spPr>
          <a:xfrm>
            <a:off x="650000" y="330000"/>
            <a:ext cx="30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FF8A3D"/>
                </a:solidFill>
                <a:latin typeface="Aptos"/>
              </a:rPr>
              <a:t>OBSERVE</a:t>
            </a:r>
            <a:endParaRPr lang="en-US" sz="1000"/>
          </a:p>
        </p:txBody>
      </p:sp>
      <p:sp>
        <p:nvSpPr>
          <p:cNvPr id="208" name="Text 208"/>
          <p:cNvSpPr/>
          <p:nvPr/>
        </p:nvSpPr>
        <p:spPr>
          <a:xfrm>
            <a:off x="650000" y="650000"/>
            <a:ext cx="105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700" b="true">
                <a:solidFill>
                  <a:srgbClr val="F7FAFC"/>
                </a:solidFill>
                <a:latin typeface="Aptos"/>
              </a:rPr>
              <a:t>Dashboard design</a:t>
            </a:r>
            <a:endParaRPr lang="en-US" sz="2700"/>
          </a:p>
        </p:txBody>
      </p:sp>
      <p:sp>
        <p:nvSpPr>
          <p:cNvPr id="209" name="Text 209"/>
          <p:cNvSpPr/>
          <p:nvPr/>
        </p:nvSpPr>
        <p:spPr>
          <a:xfrm>
            <a:off x="11300000" y="430000"/>
            <a:ext cx="4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1200" b="true">
                <a:solidFill>
                  <a:srgbClr val="9DABC0"/>
                </a:solidFill>
                <a:latin typeface="Aptos"/>
              </a:rPr>
              <a:t>08</a:t>
            </a:r>
            <a:endParaRPr lang="en-US" sz="1200"/>
          </a:p>
        </p:txBody>
      </p:sp>
      <p:sp>
        <p:nvSpPr>
          <p:cNvPr id="210" name="Box 210"/>
          <p:cNvSpPr/>
          <p:nvPr/>
        </p:nvSpPr>
        <p:spPr>
          <a:xfrm>
            <a:off x="650000" y="1400000"/>
            <a:ext cx="11000000" cy="18000"/>
          </a:xfrm>
          <a:prstGeom prst="rect">
            <a:avLst/>
          </a:prstGeom>
          <a:solidFill>
            <a:srgbClr val="23304A"/>
          </a:solidFill>
          <a:ln w="10000">
            <a:solidFill>
              <a:srgbClr val="23304A"/>
            </a:solidFill>
          </a:ln>
        </p:spPr>
      </p:sp>
      <p:sp>
        <p:nvSpPr>
          <p:cNvPr id="211" name="Text 211"/>
          <p:cNvSpPr/>
          <p:nvPr/>
        </p:nvSpPr>
        <p:spPr>
          <a:xfrm>
            <a:off x="850000" y="1750000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false">
                <a:solidFill>
                  <a:srgbClr val="9DABC0"/>
                </a:solidFill>
                <a:latin typeface="Aptos"/>
              </a:rPr>
              <a:t>A compact view for a live demo: pressure on top, behavior below.</a:t>
            </a:r>
            <a:endParaRPr lang="en-US" sz="1700"/>
          </a:p>
        </p:txBody>
      </p:sp>
      <p:sp>
        <p:nvSpPr>
          <p:cNvPr id="212" name="Box 212"/>
          <p:cNvSpPr/>
          <p:nvPr/>
        </p:nvSpPr>
        <p:spPr>
          <a:xfrm>
            <a:off x="850000" y="2500000"/>
            <a:ext cx="9800000" cy="3000000"/>
          </a:xfrm>
          <a:prstGeom prst="roundRect">
            <a:avLst/>
          </a:prstGeom>
          <a:solidFill>
            <a:srgbClr val="0F192B"/>
          </a:solidFill>
          <a:ln w="10000">
            <a:solidFill>
              <a:srgbClr val="263A56"/>
            </a:solidFill>
          </a:ln>
        </p:spPr>
      </p:sp>
      <p:sp>
        <p:nvSpPr>
          <p:cNvPr id="213" name="Text 213"/>
          <p:cNvSpPr/>
          <p:nvPr/>
        </p:nvSpPr>
        <p:spPr>
          <a:xfrm>
            <a:off x="1100000" y="2700000"/>
            <a:ext cx="60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00" b="true">
                <a:solidFill>
                  <a:srgbClr val="F7FAFC"/>
                </a:solidFill>
                <a:latin typeface="Aptos"/>
              </a:rPr>
              <a:t>KUBERNETES WORKLOAD RELIABILITY</a:t>
            </a:r>
            <a:endParaRPr lang="en-US" sz="1200"/>
          </a:p>
        </p:txBody>
      </p:sp>
      <p:sp>
        <p:nvSpPr>
          <p:cNvPr id="214" name="Box 214"/>
          <p:cNvSpPr/>
          <p:nvPr/>
        </p:nvSpPr>
        <p:spPr>
          <a:xfrm>
            <a:off x="1100000" y="3250000"/>
            <a:ext cx="2000000" cy="850000"/>
          </a:xfrm>
          <a:prstGeom prst="roundRect">
            <a:avLst/>
          </a:prstGeom>
          <a:solidFill>
            <a:srgbClr val="121B2E"/>
          </a:solidFill>
          <a:ln w="10000">
            <a:solidFill>
              <a:srgbClr val="23304A"/>
            </a:solidFill>
          </a:ln>
        </p:spPr>
      </p:sp>
      <p:sp>
        <p:nvSpPr>
          <p:cNvPr id="215" name="Box 215"/>
          <p:cNvSpPr/>
          <p:nvPr/>
        </p:nvSpPr>
        <p:spPr>
          <a:xfrm>
            <a:off x="1100000" y="3250000"/>
            <a:ext cx="85000" cy="850000"/>
          </a:xfrm>
          <a:prstGeom prst="rect">
            <a:avLst/>
          </a:prstGeom>
          <a:solidFill>
            <a:srgbClr val="FF8A3D"/>
          </a:solidFill>
          <a:ln w="10000">
            <a:solidFill>
              <a:srgbClr val="FF8A3D"/>
            </a:solidFill>
          </a:ln>
        </p:spPr>
      </p:sp>
      <p:sp>
        <p:nvSpPr>
          <p:cNvPr id="216" name="Text 216"/>
          <p:cNvSpPr/>
          <p:nvPr/>
        </p:nvSpPr>
        <p:spPr>
          <a:xfrm>
            <a:off x="1280000" y="3390000"/>
            <a:ext cx="1700000" cy="2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FF8A3D"/>
                </a:solidFill>
                <a:latin typeface="Aptos"/>
              </a:rPr>
              <a:t>LIVE</a:t>
            </a:r>
            <a:endParaRPr lang="en-US" sz="1000"/>
          </a:p>
        </p:txBody>
      </p:sp>
      <p:sp>
        <p:nvSpPr>
          <p:cNvPr id="217" name="Text 217"/>
          <p:cNvSpPr/>
          <p:nvPr/>
        </p:nvSpPr>
        <p:spPr>
          <a:xfrm>
            <a:off x="1280000" y="3680000"/>
            <a:ext cx="17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true">
                <a:solidFill>
                  <a:srgbClr val="F7FAFC"/>
                </a:solidFill>
                <a:latin typeface="Aptos"/>
              </a:rPr>
              <a:t>CPU %</a:t>
            </a:r>
            <a:endParaRPr lang="en-US" sz="1700"/>
          </a:p>
        </p:txBody>
      </p:sp>
      <p:sp>
        <p:nvSpPr>
          <p:cNvPr id="218" name="Text 218"/>
          <p:cNvSpPr/>
          <p:nvPr/>
        </p:nvSpPr>
        <p:spPr>
          <a:xfrm>
            <a:off x="1280000" y="4140000"/>
            <a:ext cx="1700000" cy="-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false">
                <a:solidFill>
                  <a:srgbClr val="9DABC0"/>
                </a:solidFill>
                <a:latin typeface="Aptos"/>
              </a:rPr>
              <a:t>—  42%</a:t>
            </a:r>
            <a:endParaRPr lang="en-US" sz="1500"/>
          </a:p>
        </p:txBody>
      </p:sp>
      <p:sp>
        <p:nvSpPr>
          <p:cNvPr id="219" name="Box 219"/>
          <p:cNvSpPr/>
          <p:nvPr/>
        </p:nvSpPr>
        <p:spPr>
          <a:xfrm>
            <a:off x="3350000" y="3250000"/>
            <a:ext cx="2000000" cy="850000"/>
          </a:xfrm>
          <a:prstGeom prst="roundRect">
            <a:avLst/>
          </a:prstGeom>
          <a:solidFill>
            <a:srgbClr val="121B2E"/>
          </a:solidFill>
          <a:ln w="10000">
            <a:solidFill>
              <a:srgbClr val="23304A"/>
            </a:solidFill>
          </a:ln>
        </p:spPr>
      </p:sp>
      <p:sp>
        <p:nvSpPr>
          <p:cNvPr id="220" name="Box 220"/>
          <p:cNvSpPr/>
          <p:nvPr/>
        </p:nvSpPr>
        <p:spPr>
          <a:xfrm>
            <a:off x="3350000" y="3250000"/>
            <a:ext cx="85000" cy="850000"/>
          </a:xfrm>
          <a:prstGeom prst="rect">
            <a:avLst/>
          </a:prstGeom>
          <a:solidFill>
            <a:srgbClr val="F36D8D"/>
          </a:solidFill>
          <a:ln w="10000">
            <a:solidFill>
              <a:srgbClr val="F36D8D"/>
            </a:solidFill>
          </a:ln>
        </p:spPr>
      </p:sp>
      <p:sp>
        <p:nvSpPr>
          <p:cNvPr id="221" name="Text 221"/>
          <p:cNvSpPr/>
          <p:nvPr/>
        </p:nvSpPr>
        <p:spPr>
          <a:xfrm>
            <a:off x="3530000" y="3390000"/>
            <a:ext cx="1700000" cy="2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F36D8D"/>
                </a:solidFill>
                <a:latin typeface="Aptos"/>
              </a:rPr>
              <a:t>LIVE</a:t>
            </a:r>
            <a:endParaRPr lang="en-US" sz="1000"/>
          </a:p>
        </p:txBody>
      </p:sp>
      <p:sp>
        <p:nvSpPr>
          <p:cNvPr id="222" name="Text 222"/>
          <p:cNvSpPr/>
          <p:nvPr/>
        </p:nvSpPr>
        <p:spPr>
          <a:xfrm>
            <a:off x="3530000" y="3680000"/>
            <a:ext cx="17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true">
                <a:solidFill>
                  <a:srgbClr val="F7FAFC"/>
                </a:solidFill>
                <a:latin typeface="Aptos"/>
              </a:rPr>
              <a:t>Memory %</a:t>
            </a:r>
            <a:endParaRPr lang="en-US" sz="1700"/>
          </a:p>
        </p:txBody>
      </p:sp>
      <p:sp>
        <p:nvSpPr>
          <p:cNvPr id="223" name="Text 223"/>
          <p:cNvSpPr/>
          <p:nvPr/>
        </p:nvSpPr>
        <p:spPr>
          <a:xfrm>
            <a:off x="3530000" y="4140000"/>
            <a:ext cx="1700000" cy="-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false">
                <a:solidFill>
                  <a:srgbClr val="9DABC0"/>
                </a:solidFill>
                <a:latin typeface="Aptos"/>
              </a:rPr>
              <a:t>—  58%</a:t>
            </a:r>
            <a:endParaRPr lang="en-US" sz="1500"/>
          </a:p>
        </p:txBody>
      </p:sp>
      <p:sp>
        <p:nvSpPr>
          <p:cNvPr id="224" name="Box 224"/>
          <p:cNvSpPr/>
          <p:nvPr/>
        </p:nvSpPr>
        <p:spPr>
          <a:xfrm>
            <a:off x="5600000" y="3250000"/>
            <a:ext cx="2000000" cy="850000"/>
          </a:xfrm>
          <a:prstGeom prst="roundRect">
            <a:avLst/>
          </a:prstGeom>
          <a:solidFill>
            <a:srgbClr val="121B2E"/>
          </a:solidFill>
          <a:ln w="10000">
            <a:solidFill>
              <a:srgbClr val="23304A"/>
            </a:solidFill>
          </a:ln>
        </p:spPr>
      </p:sp>
      <p:sp>
        <p:nvSpPr>
          <p:cNvPr id="225" name="Box 225"/>
          <p:cNvSpPr/>
          <p:nvPr/>
        </p:nvSpPr>
        <p:spPr>
          <a:xfrm>
            <a:off x="5600000" y="3250000"/>
            <a:ext cx="85000" cy="850000"/>
          </a:xfrm>
          <a:prstGeom prst="rect">
            <a:avLst/>
          </a:prstGeom>
          <a:solidFill>
            <a:srgbClr val="65D69C"/>
          </a:solidFill>
          <a:ln w="10000">
            <a:solidFill>
              <a:srgbClr val="65D69C"/>
            </a:solidFill>
          </a:ln>
        </p:spPr>
      </p:sp>
      <p:sp>
        <p:nvSpPr>
          <p:cNvPr id="226" name="Text 226"/>
          <p:cNvSpPr/>
          <p:nvPr/>
        </p:nvSpPr>
        <p:spPr>
          <a:xfrm>
            <a:off x="5780000" y="3390000"/>
            <a:ext cx="1700000" cy="2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65D69C"/>
                </a:solidFill>
                <a:latin typeface="Aptos"/>
              </a:rPr>
              <a:t>LIVE</a:t>
            </a:r>
            <a:endParaRPr lang="en-US" sz="1000"/>
          </a:p>
        </p:txBody>
      </p:sp>
      <p:sp>
        <p:nvSpPr>
          <p:cNvPr id="227" name="Text 227"/>
          <p:cNvSpPr/>
          <p:nvPr/>
        </p:nvSpPr>
        <p:spPr>
          <a:xfrm>
            <a:off x="5780000" y="3680000"/>
            <a:ext cx="17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true">
                <a:solidFill>
                  <a:srgbClr val="F7FAFC"/>
                </a:solidFill>
                <a:latin typeface="Aptos"/>
              </a:rPr>
              <a:t>5xx / sec</a:t>
            </a:r>
            <a:endParaRPr lang="en-US" sz="1700"/>
          </a:p>
        </p:txBody>
      </p:sp>
      <p:sp>
        <p:nvSpPr>
          <p:cNvPr id="228" name="Text 228"/>
          <p:cNvSpPr/>
          <p:nvPr/>
        </p:nvSpPr>
        <p:spPr>
          <a:xfrm>
            <a:off x="5780000" y="4140000"/>
            <a:ext cx="1700000" cy="-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false">
                <a:solidFill>
                  <a:srgbClr val="9DABC0"/>
                </a:solidFill>
                <a:latin typeface="Aptos"/>
              </a:rPr>
              <a:t>—  0.0</a:t>
            </a:r>
            <a:endParaRPr lang="en-US" sz="1500"/>
          </a:p>
        </p:txBody>
      </p:sp>
      <p:sp>
        <p:nvSpPr>
          <p:cNvPr id="229" name="Box 229"/>
          <p:cNvSpPr/>
          <p:nvPr/>
        </p:nvSpPr>
        <p:spPr>
          <a:xfrm>
            <a:off x="7850000" y="3250000"/>
            <a:ext cx="2000000" cy="850000"/>
          </a:xfrm>
          <a:prstGeom prst="roundRect">
            <a:avLst/>
          </a:prstGeom>
          <a:solidFill>
            <a:srgbClr val="121B2E"/>
          </a:solidFill>
          <a:ln w="10000">
            <a:solidFill>
              <a:srgbClr val="23304A"/>
            </a:solidFill>
          </a:ln>
        </p:spPr>
      </p:sp>
      <p:sp>
        <p:nvSpPr>
          <p:cNvPr id="230" name="Box 230"/>
          <p:cNvSpPr/>
          <p:nvPr/>
        </p:nvSpPr>
        <p:spPr>
          <a:xfrm>
            <a:off x="7850000" y="3250000"/>
            <a:ext cx="85000" cy="850000"/>
          </a:xfrm>
          <a:prstGeom prst="rect">
            <a:avLst/>
          </a:prstGeom>
          <a:solidFill>
            <a:srgbClr val="45D7E8"/>
          </a:solidFill>
          <a:ln w="10000">
            <a:solidFill>
              <a:srgbClr val="45D7E8"/>
            </a:solidFill>
          </a:ln>
        </p:spPr>
      </p:sp>
      <p:sp>
        <p:nvSpPr>
          <p:cNvPr id="231" name="Text 231"/>
          <p:cNvSpPr/>
          <p:nvPr/>
        </p:nvSpPr>
        <p:spPr>
          <a:xfrm>
            <a:off x="8030000" y="3390000"/>
            <a:ext cx="1700000" cy="2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45D7E8"/>
                </a:solidFill>
                <a:latin typeface="Aptos"/>
              </a:rPr>
              <a:t>LIVE</a:t>
            </a:r>
            <a:endParaRPr lang="en-US" sz="1000"/>
          </a:p>
        </p:txBody>
      </p:sp>
      <p:sp>
        <p:nvSpPr>
          <p:cNvPr id="232" name="Text 232"/>
          <p:cNvSpPr/>
          <p:nvPr/>
        </p:nvSpPr>
        <p:spPr>
          <a:xfrm>
            <a:off x="8030000" y="3680000"/>
            <a:ext cx="17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true">
                <a:solidFill>
                  <a:srgbClr val="F7FAFC"/>
                </a:solidFill>
                <a:latin typeface="Aptos"/>
              </a:rPr>
              <a:t>Restarts</a:t>
            </a:r>
            <a:endParaRPr lang="en-US" sz="1700"/>
          </a:p>
        </p:txBody>
      </p:sp>
      <p:sp>
        <p:nvSpPr>
          <p:cNvPr id="233" name="Text 233"/>
          <p:cNvSpPr/>
          <p:nvPr/>
        </p:nvSpPr>
        <p:spPr>
          <a:xfrm>
            <a:off x="8030000" y="4140000"/>
            <a:ext cx="1700000" cy="-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false">
                <a:solidFill>
                  <a:srgbClr val="9DABC0"/>
                </a:solidFill>
                <a:latin typeface="Aptos"/>
              </a:rPr>
              <a:t>—  0</a:t>
            </a:r>
            <a:endParaRPr lang="en-US" sz="1500"/>
          </a:p>
        </p:txBody>
      </p:sp>
      <p:sp>
        <p:nvSpPr>
          <p:cNvPr id="234" name="Box 234"/>
          <p:cNvSpPr/>
          <p:nvPr/>
        </p:nvSpPr>
        <p:spPr>
          <a:xfrm>
            <a:off x="1100000" y="4550000"/>
            <a:ext cx="9000000" cy="20000"/>
          </a:xfrm>
          <a:prstGeom prst="rect">
            <a:avLst/>
          </a:prstGeom>
          <a:solidFill>
            <a:srgbClr val="29405A"/>
          </a:solidFill>
          <a:ln w="10000">
            <a:solidFill>
              <a:srgbClr val="29405A"/>
            </a:solidFill>
          </a:ln>
        </p:spPr>
      </p:sp>
      <p:sp>
        <p:nvSpPr>
          <p:cNvPr id="235" name="Text 235"/>
          <p:cNvSpPr/>
          <p:nvPr/>
        </p:nvSpPr>
        <p:spPr>
          <a:xfrm>
            <a:off x="2200000" y="4800000"/>
            <a:ext cx="70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en-US" sz="1600" b="true">
                <a:solidFill>
                  <a:srgbClr val="9DABC0"/>
                </a:solidFill>
                <a:latin typeface="Aptos"/>
              </a:rPr>
              <a:t>[ Replace with actual Grafana screenshot after deployment ]</a:t>
            </a:r>
            <a:endParaRPr lang="en-US" sz="1600"/>
          </a:p>
        </p:txBody>
      </p:sp>
      <p:sp>
        <p:nvSpPr>
          <p:cNvPr id="239" name="Text 239"/>
          <p:cNvSpPr/>
          <p:nvPr/>
        </p:nvSpPr>
        <p:spPr>
          <a:xfrm>
            <a:off x="650000" y="6570000"/>
            <a:ext cx="7000000" cy="1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900" b="true">
                <a:solidFill>
                  <a:srgbClr val="63758F"/>
                </a:solidFill>
                <a:latin typeface="Aptos"/>
              </a:rPr>
              <a:t>KUBERNETES WORKLOAD RELIABILITY  /  DEVOPS MINI-PROJECT</a:t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7" name="Box 25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020"/>
          </a:solidFill>
          <a:ln w="10000">
            <a:solidFill>
              <a:srgbClr val="0A1020"/>
            </a:solidFill>
          </a:ln>
        </p:spPr>
      </p:sp>
      <p:sp>
        <p:nvSpPr>
          <p:cNvPr id="258" name="Dot 258"/>
          <p:cNvSpPr/>
          <p:nvPr/>
        </p:nvSpPr>
        <p:spPr>
          <a:xfrm>
            <a:off x="11000000" y="500000"/>
            <a:ext cx="900000" cy="900000"/>
          </a:xfrm>
          <a:prstGeom prst="ellipse">
            <a:avLst/>
          </a:prstGeom>
          <a:solidFill>
            <a:srgbClr val="10263A"/>
          </a:solidFill>
          <a:ln>
            <a:noFill/>
          </a:ln>
        </p:spPr>
      </p:sp>
      <p:sp>
        <p:nvSpPr>
          <p:cNvPr id="259" name="Dot 259"/>
          <p:cNvSpPr/>
          <p:nvPr/>
        </p:nvSpPr>
        <p:spPr>
          <a:xfrm>
            <a:off x="11190000" y="690000"/>
            <a:ext cx="400000" cy="400000"/>
          </a:xfrm>
          <a:prstGeom prst="ellipse">
            <a:avLst/>
          </a:prstGeom>
          <a:solidFill>
            <a:srgbClr val="FF8A3D"/>
          </a:solidFill>
          <a:ln>
            <a:noFill/>
          </a:ln>
        </p:spPr>
      </p:sp>
      <p:sp>
        <p:nvSpPr>
          <p:cNvPr id="240" name="Text 240"/>
          <p:cNvSpPr/>
          <p:nvPr/>
        </p:nvSpPr>
        <p:spPr>
          <a:xfrm>
            <a:off x="650000" y="330000"/>
            <a:ext cx="30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FF8A3D"/>
                </a:solidFill>
                <a:latin typeface="Aptos"/>
              </a:rPr>
              <a:t>EXPERIMENTS</a:t>
            </a:r>
            <a:endParaRPr lang="en-US" sz="1000"/>
          </a:p>
        </p:txBody>
      </p:sp>
      <p:sp>
        <p:nvSpPr>
          <p:cNvPr id="241" name="Text 241"/>
          <p:cNvSpPr/>
          <p:nvPr/>
        </p:nvSpPr>
        <p:spPr>
          <a:xfrm>
            <a:off x="650000" y="650000"/>
            <a:ext cx="105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700" b="true">
                <a:solidFill>
                  <a:srgbClr val="F7FAFC"/>
                </a:solidFill>
                <a:latin typeface="Aptos"/>
              </a:rPr>
              <a:t>Demo path: from baseline to recovery</a:t>
            </a:r>
            <a:endParaRPr lang="en-US" sz="2700"/>
          </a:p>
        </p:txBody>
      </p:sp>
      <p:sp>
        <p:nvSpPr>
          <p:cNvPr id="242" name="Text 242"/>
          <p:cNvSpPr/>
          <p:nvPr/>
        </p:nvSpPr>
        <p:spPr>
          <a:xfrm>
            <a:off x="11300000" y="430000"/>
            <a:ext cx="4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1200" b="true">
                <a:solidFill>
                  <a:srgbClr val="9DABC0"/>
                </a:solidFill>
                <a:latin typeface="Aptos"/>
              </a:rPr>
              <a:t>09</a:t>
            </a:r>
            <a:endParaRPr lang="en-US" sz="1200"/>
          </a:p>
        </p:txBody>
      </p:sp>
      <p:sp>
        <p:nvSpPr>
          <p:cNvPr id="243" name="Box 243"/>
          <p:cNvSpPr/>
          <p:nvPr/>
        </p:nvSpPr>
        <p:spPr>
          <a:xfrm>
            <a:off x="650000" y="1400000"/>
            <a:ext cx="11000000" cy="18000"/>
          </a:xfrm>
          <a:prstGeom prst="rect">
            <a:avLst/>
          </a:prstGeom>
          <a:solidFill>
            <a:srgbClr val="23304A"/>
          </a:solidFill>
          <a:ln w="10000">
            <a:solidFill>
              <a:srgbClr val="23304A"/>
            </a:solidFill>
          </a:ln>
        </p:spPr>
      </p:sp>
      <p:sp>
        <p:nvSpPr>
          <p:cNvPr id="244" name="Text 244"/>
          <p:cNvSpPr/>
          <p:nvPr/>
        </p:nvSpPr>
        <p:spPr>
          <a:xfrm>
            <a:off x="850000" y="1750000"/>
            <a:ext cx="65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false">
                <a:solidFill>
                  <a:srgbClr val="9DABC0"/>
                </a:solidFill>
                <a:latin typeface="Aptos"/>
              </a:rPr>
              <a:t>Each step creates one observable change.</a:t>
            </a:r>
            <a:endParaRPr lang="en-US" sz="1700"/>
          </a:p>
        </p:txBody>
      </p:sp>
      <p:sp>
        <p:nvSpPr>
          <p:cNvPr id="245" name="Box 245"/>
          <p:cNvSpPr/>
          <p:nvPr/>
        </p:nvSpPr>
        <p:spPr>
          <a:xfrm>
            <a:off x="1350000" y="3500000"/>
            <a:ext cx="8500000" cy="22000"/>
          </a:xfrm>
          <a:prstGeom prst="rect">
            <a:avLst/>
          </a:prstGeom>
          <a:solidFill>
            <a:srgbClr val="29405A"/>
          </a:solidFill>
          <a:ln w="10000">
            <a:solidFill>
              <a:srgbClr val="29405A"/>
            </a:solidFill>
          </a:ln>
        </p:spPr>
      </p:sp>
      <p:sp>
        <p:nvSpPr>
          <p:cNvPr id="246" name="Dot 246"/>
          <p:cNvSpPr/>
          <p:nvPr/>
        </p:nvSpPr>
        <p:spPr>
          <a:xfrm>
            <a:off x="1150000" y="3250000"/>
            <a:ext cx="550000" cy="550000"/>
          </a:xfrm>
          <a:prstGeom prst="ellipse">
            <a:avLst/>
          </a:prstGeom>
          <a:solidFill>
            <a:srgbClr val="FF8A3D"/>
          </a:solidFill>
          <a:ln>
            <a:noFill/>
          </a:ln>
        </p:spPr>
      </p:sp>
      <p:sp>
        <p:nvSpPr>
          <p:cNvPr id="247" name="Dot 247"/>
          <p:cNvSpPr/>
          <p:nvPr/>
        </p:nvSpPr>
        <p:spPr>
          <a:xfrm>
            <a:off x="3250000" y="3250000"/>
            <a:ext cx="550000" cy="550000"/>
          </a:xfrm>
          <a:prstGeom prst="ellipse">
            <a:avLst/>
          </a:prstGeom>
          <a:solidFill>
            <a:srgbClr val="45D7E8"/>
          </a:solidFill>
          <a:ln>
            <a:noFill/>
          </a:ln>
        </p:spPr>
      </p:sp>
      <p:sp>
        <p:nvSpPr>
          <p:cNvPr id="248" name="Dot 248"/>
          <p:cNvSpPr/>
          <p:nvPr/>
        </p:nvSpPr>
        <p:spPr>
          <a:xfrm>
            <a:off x="5350000" y="3250000"/>
            <a:ext cx="550000" cy="550000"/>
          </a:xfrm>
          <a:prstGeom prst="ellipse">
            <a:avLst/>
          </a:prstGeom>
          <a:solidFill>
            <a:srgbClr val="F36D8D"/>
          </a:solidFill>
          <a:ln>
            <a:noFill/>
          </a:ln>
        </p:spPr>
      </p:sp>
      <p:sp>
        <p:nvSpPr>
          <p:cNvPr id="249" name="Dot 249"/>
          <p:cNvSpPr/>
          <p:nvPr/>
        </p:nvSpPr>
        <p:spPr>
          <a:xfrm>
            <a:off x="7450000" y="3250000"/>
            <a:ext cx="550000" cy="550000"/>
          </a:xfrm>
          <a:prstGeom prst="ellipse">
            <a:avLst/>
          </a:prstGeom>
          <a:solidFill>
            <a:srgbClr val="65D69C"/>
          </a:solidFill>
          <a:ln>
            <a:noFill/>
          </a:ln>
        </p:spPr>
      </p:sp>
      <p:sp>
        <p:nvSpPr>
          <p:cNvPr id="250" name="Dot 250"/>
          <p:cNvSpPr/>
          <p:nvPr/>
        </p:nvSpPr>
        <p:spPr>
          <a:xfrm>
            <a:off x="9550000" y="3250000"/>
            <a:ext cx="550000" cy="550000"/>
          </a:xfrm>
          <a:prstGeom prst="ellipse">
            <a:avLst/>
          </a:prstGeom>
          <a:solidFill>
            <a:srgbClr val="F7C95D"/>
          </a:solidFill>
          <a:ln>
            <a:noFill/>
          </a:ln>
        </p:spPr>
      </p:sp>
      <p:sp>
        <p:nvSpPr>
          <p:cNvPr id="251" name="Text 251"/>
          <p:cNvSpPr/>
          <p:nvPr/>
        </p:nvSpPr>
        <p:spPr>
          <a:xfrm>
            <a:off x="900000" y="4200000"/>
            <a:ext cx="12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en-US" sz="1400" b="true">
                <a:solidFill>
                  <a:srgbClr val="F7FAFC"/>
                </a:solidFill>
                <a:latin typeface="Aptos"/>
              </a:rPr>
              <a:t>Baseline</a:t>
            </a:r>
            <a:endParaRPr lang="en-US" sz="1400"/>
          </a:p>
        </p:txBody>
      </p:sp>
      <p:sp>
        <p:nvSpPr>
          <p:cNvPr id="252" name="Text 252"/>
          <p:cNvSpPr/>
          <p:nvPr/>
        </p:nvSpPr>
        <p:spPr>
          <a:xfrm>
            <a:off x="2850000" y="4200000"/>
            <a:ext cx="16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en-US" sz="1400" b="true">
                <a:solidFill>
                  <a:srgbClr val="F7FAFC"/>
                </a:solidFill>
                <a:latin typeface="Aptos"/>
              </a:rPr>
              <a:t>CPU / memory</a:t>
            </a:r>
            <a:endParaRPr lang="en-US" sz="1400"/>
          </a:p>
        </p:txBody>
      </p:sp>
      <p:sp>
        <p:nvSpPr>
          <p:cNvPr id="253" name="Text 253"/>
          <p:cNvSpPr/>
          <p:nvPr/>
        </p:nvSpPr>
        <p:spPr>
          <a:xfrm>
            <a:off x="4950000" y="4200000"/>
            <a:ext cx="16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en-US" sz="1400" b="true">
                <a:solidFill>
                  <a:srgbClr val="F7FAFC"/>
                </a:solidFill>
                <a:latin typeface="Aptos"/>
              </a:rPr>
              <a:t>HTTP 500s</a:t>
            </a:r>
            <a:endParaRPr lang="en-US" sz="1400"/>
          </a:p>
        </p:txBody>
      </p:sp>
      <p:sp>
        <p:nvSpPr>
          <p:cNvPr id="254" name="Text 254"/>
          <p:cNvSpPr/>
          <p:nvPr/>
        </p:nvSpPr>
        <p:spPr>
          <a:xfrm>
            <a:off x="7000000" y="4200000"/>
            <a:ext cx="16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en-US" sz="1400" b="true">
                <a:solidFill>
                  <a:srgbClr val="F7FAFC"/>
                </a:solidFill>
                <a:latin typeface="Aptos"/>
              </a:rPr>
              <a:t>Delete pod</a:t>
            </a:r>
            <a:endParaRPr lang="en-US" sz="1400"/>
          </a:p>
        </p:txBody>
      </p:sp>
      <p:sp>
        <p:nvSpPr>
          <p:cNvPr id="255" name="Text 255"/>
          <p:cNvSpPr/>
          <p:nvPr/>
        </p:nvSpPr>
        <p:spPr>
          <a:xfrm>
            <a:off x="9300000" y="4200000"/>
            <a:ext cx="12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en-US" sz="1400" b="true">
                <a:solidFill>
                  <a:srgbClr val="F7FAFC"/>
                </a:solidFill>
                <a:latin typeface="Aptos"/>
              </a:rPr>
              <a:t>Observe</a:t>
            </a:r>
            <a:endParaRPr lang="en-US" sz="1400"/>
          </a:p>
        </p:txBody>
      </p:sp>
      <p:sp>
        <p:nvSpPr>
          <p:cNvPr id="256" name="Text 256"/>
          <p:cNvSpPr/>
          <p:nvPr/>
        </p:nvSpPr>
        <p:spPr>
          <a:xfrm>
            <a:off x="2250000" y="5250000"/>
            <a:ext cx="75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en-US" sz="2000" b="true">
                <a:solidFill>
                  <a:srgbClr val="45D7E8"/>
                </a:solidFill>
                <a:latin typeface="Aptos"/>
              </a:rPr>
              <a:t>Deploy → Monitor → Simulate → Detect → Recover</a:t>
            </a:r>
            <a:endParaRPr lang="en-US" sz="2000"/>
          </a:p>
        </p:txBody>
      </p:sp>
      <p:sp>
        <p:nvSpPr>
          <p:cNvPr id="260" name="Text 260"/>
          <p:cNvSpPr/>
          <p:nvPr/>
        </p:nvSpPr>
        <p:spPr>
          <a:xfrm>
            <a:off x="650000" y="6570000"/>
            <a:ext cx="7000000" cy="1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900" b="true">
                <a:solidFill>
                  <a:srgbClr val="63758F"/>
                </a:solidFill>
                <a:latin typeface="Aptos"/>
              </a:rPr>
              <a:t>KUBERNETES WORKLOAD RELIABILITY  /  DEVOPS MINI-PROJECT</a:t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" name="Box 27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020"/>
          </a:solidFill>
          <a:ln w="10000">
            <a:solidFill>
              <a:srgbClr val="0A1020"/>
            </a:solidFill>
          </a:ln>
        </p:spPr>
      </p:sp>
      <p:sp>
        <p:nvSpPr>
          <p:cNvPr id="277" name="Dot 277"/>
          <p:cNvSpPr/>
          <p:nvPr/>
        </p:nvSpPr>
        <p:spPr>
          <a:xfrm>
            <a:off x="11000000" y="500000"/>
            <a:ext cx="900000" cy="900000"/>
          </a:xfrm>
          <a:prstGeom prst="ellipse">
            <a:avLst/>
          </a:prstGeom>
          <a:solidFill>
            <a:srgbClr val="10263A"/>
          </a:solidFill>
          <a:ln>
            <a:noFill/>
          </a:ln>
        </p:spPr>
      </p:sp>
      <p:sp>
        <p:nvSpPr>
          <p:cNvPr id="278" name="Dot 278"/>
          <p:cNvSpPr/>
          <p:nvPr/>
        </p:nvSpPr>
        <p:spPr>
          <a:xfrm>
            <a:off x="11190000" y="690000"/>
            <a:ext cx="400000" cy="400000"/>
          </a:xfrm>
          <a:prstGeom prst="ellipse">
            <a:avLst/>
          </a:prstGeom>
          <a:solidFill>
            <a:srgbClr val="FF8A3D"/>
          </a:solidFill>
          <a:ln>
            <a:noFill/>
          </a:ln>
        </p:spPr>
      </p:sp>
      <p:sp>
        <p:nvSpPr>
          <p:cNvPr id="261" name="Text 261"/>
          <p:cNvSpPr/>
          <p:nvPr/>
        </p:nvSpPr>
        <p:spPr>
          <a:xfrm>
            <a:off x="650000" y="330000"/>
            <a:ext cx="30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FF8A3D"/>
                </a:solidFill>
                <a:latin typeface="Aptos"/>
              </a:rPr>
              <a:t>EXPERIMENT 01</a:t>
            </a:r>
            <a:endParaRPr lang="en-US" sz="1000"/>
          </a:p>
        </p:txBody>
      </p:sp>
      <p:sp>
        <p:nvSpPr>
          <p:cNvPr id="262" name="Text 262"/>
          <p:cNvSpPr/>
          <p:nvPr/>
        </p:nvSpPr>
        <p:spPr>
          <a:xfrm>
            <a:off x="650000" y="650000"/>
            <a:ext cx="105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700" b="true">
                <a:solidFill>
                  <a:srgbClr val="F7FAFC"/>
                </a:solidFill>
                <a:latin typeface="Aptos"/>
              </a:rPr>
              <a:t>Pressure is a signal, not a verdict</a:t>
            </a:r>
            <a:endParaRPr lang="en-US" sz="2700"/>
          </a:p>
        </p:txBody>
      </p:sp>
      <p:sp>
        <p:nvSpPr>
          <p:cNvPr id="263" name="Text 263"/>
          <p:cNvSpPr/>
          <p:nvPr/>
        </p:nvSpPr>
        <p:spPr>
          <a:xfrm>
            <a:off x="11300000" y="430000"/>
            <a:ext cx="4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1200" b="true">
                <a:solidFill>
                  <a:srgbClr val="9DABC0"/>
                </a:solidFill>
                <a:latin typeface="Aptos"/>
              </a:rPr>
              <a:t>10</a:t>
            </a:r>
            <a:endParaRPr lang="en-US" sz="1200"/>
          </a:p>
        </p:txBody>
      </p:sp>
      <p:sp>
        <p:nvSpPr>
          <p:cNvPr id="264" name="Box 264"/>
          <p:cNvSpPr/>
          <p:nvPr/>
        </p:nvSpPr>
        <p:spPr>
          <a:xfrm>
            <a:off x="650000" y="1400000"/>
            <a:ext cx="11000000" cy="18000"/>
          </a:xfrm>
          <a:prstGeom prst="rect">
            <a:avLst/>
          </a:prstGeom>
          <a:solidFill>
            <a:srgbClr val="23304A"/>
          </a:solidFill>
          <a:ln w="10000">
            <a:solidFill>
              <a:srgbClr val="23304A"/>
            </a:solidFill>
          </a:ln>
        </p:spPr>
      </p:sp>
      <p:sp>
        <p:nvSpPr>
          <p:cNvPr id="265" name="Box 265"/>
          <p:cNvSpPr/>
          <p:nvPr/>
        </p:nvSpPr>
        <p:spPr>
          <a:xfrm>
            <a:off x="850000" y="1900000"/>
            <a:ext cx="4300000" cy="2700000"/>
          </a:xfrm>
          <a:prstGeom prst="roundRect">
            <a:avLst/>
          </a:prstGeom>
          <a:solidFill>
            <a:srgbClr val="121B2E"/>
          </a:solidFill>
          <a:ln w="10000">
            <a:solidFill>
              <a:srgbClr val="23304A"/>
            </a:solidFill>
          </a:ln>
        </p:spPr>
      </p:sp>
      <p:sp>
        <p:nvSpPr>
          <p:cNvPr id="266" name="Box 266"/>
          <p:cNvSpPr/>
          <p:nvPr/>
        </p:nvSpPr>
        <p:spPr>
          <a:xfrm>
            <a:off x="850000" y="1900000"/>
            <a:ext cx="85000" cy="2700000"/>
          </a:xfrm>
          <a:prstGeom prst="rect">
            <a:avLst/>
          </a:prstGeom>
          <a:solidFill>
            <a:srgbClr val="FF8A3D"/>
          </a:solidFill>
          <a:ln w="10000">
            <a:solidFill>
              <a:srgbClr val="FF8A3D"/>
            </a:solidFill>
          </a:ln>
        </p:spPr>
      </p:sp>
      <p:sp>
        <p:nvSpPr>
          <p:cNvPr id="267" name="Text 267"/>
          <p:cNvSpPr/>
          <p:nvPr/>
        </p:nvSpPr>
        <p:spPr>
          <a:xfrm>
            <a:off x="1030000" y="2040000"/>
            <a:ext cx="4000000" cy="2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FF8A3D"/>
                </a:solidFill>
                <a:latin typeface="Aptos"/>
              </a:rPr>
              <a:t>TEST</a:t>
            </a:r>
            <a:endParaRPr lang="en-US" sz="1000"/>
          </a:p>
        </p:txBody>
      </p:sp>
      <p:sp>
        <p:nvSpPr>
          <p:cNvPr id="268" name="Text 268"/>
          <p:cNvSpPr/>
          <p:nvPr/>
        </p:nvSpPr>
        <p:spPr>
          <a:xfrm>
            <a:off x="1030000" y="2330000"/>
            <a:ext cx="40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true">
                <a:solidFill>
                  <a:srgbClr val="F7FAFC"/>
                </a:solidFill>
                <a:latin typeface="Aptos"/>
              </a:rPr>
              <a:t>CPU load</a:t>
            </a:r>
            <a:endParaRPr lang="en-US" sz="1700"/>
          </a:p>
        </p:txBody>
      </p:sp>
      <p:sp>
        <p:nvSpPr>
          <p:cNvPr id="269" name="Text 269"/>
          <p:cNvSpPr/>
          <p:nvPr/>
        </p:nvSpPr>
        <p:spPr>
          <a:xfrm>
            <a:off x="1030000" y="2790000"/>
            <a:ext cx="4000000" cy="1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false">
                <a:solidFill>
                  <a:srgbClr val="9DABC0"/>
                </a:solidFill>
                <a:latin typeface="Aptos"/>
              </a:rPr>
              <a:t>GET /load?mode=cpu&amp;seconds=20</a:t>
            </a:r>
            <a:endParaRPr lang="en-US" sz="1700"/>
          </a:p>
          <a:p>
            <a:pPr algn="l"/>
            <a:r>
              <a:rPr lang="en-US" sz="1700" b="false">
                <a:solidFill>
                  <a:srgbClr val="9DABC0"/>
                </a:solidFill>
                <a:latin typeface="Aptos"/>
              </a:rPr>
              <a:t/>
            </a:r>
            <a:endParaRPr lang="en-US" sz="1700"/>
          </a:p>
          <a:p>
            <a:pPr algn="l"/>
            <a:r>
              <a:rPr lang="en-US" sz="1700" b="false">
                <a:solidFill>
                  <a:srgbClr val="9DABC0"/>
                </a:solidFill>
                <a:latin typeface="Aptos"/>
              </a:rPr>
              <a:t>Expect: usage rises for the bounded work window.</a:t>
            </a:r>
            <a:endParaRPr lang="en-US" sz="1700"/>
          </a:p>
        </p:txBody>
      </p:sp>
      <p:sp>
        <p:nvSpPr>
          <p:cNvPr id="270" name="Box 270"/>
          <p:cNvSpPr/>
          <p:nvPr/>
        </p:nvSpPr>
        <p:spPr>
          <a:xfrm>
            <a:off x="5550000" y="1900000"/>
            <a:ext cx="4300000" cy="2700000"/>
          </a:xfrm>
          <a:prstGeom prst="roundRect">
            <a:avLst/>
          </a:prstGeom>
          <a:solidFill>
            <a:srgbClr val="121B2E"/>
          </a:solidFill>
          <a:ln w="10000">
            <a:solidFill>
              <a:srgbClr val="23304A"/>
            </a:solidFill>
          </a:ln>
        </p:spPr>
      </p:sp>
      <p:sp>
        <p:nvSpPr>
          <p:cNvPr id="271" name="Box 271"/>
          <p:cNvSpPr/>
          <p:nvPr/>
        </p:nvSpPr>
        <p:spPr>
          <a:xfrm>
            <a:off x="5550000" y="1900000"/>
            <a:ext cx="85000" cy="2700000"/>
          </a:xfrm>
          <a:prstGeom prst="rect">
            <a:avLst/>
          </a:prstGeom>
          <a:solidFill>
            <a:srgbClr val="F36D8D"/>
          </a:solidFill>
          <a:ln w="10000">
            <a:solidFill>
              <a:srgbClr val="F36D8D"/>
            </a:solidFill>
          </a:ln>
        </p:spPr>
      </p:sp>
      <p:sp>
        <p:nvSpPr>
          <p:cNvPr id="272" name="Text 272"/>
          <p:cNvSpPr/>
          <p:nvPr/>
        </p:nvSpPr>
        <p:spPr>
          <a:xfrm>
            <a:off x="5730000" y="2040000"/>
            <a:ext cx="4000000" cy="2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F36D8D"/>
                </a:solidFill>
                <a:latin typeface="Aptos"/>
              </a:rPr>
              <a:t>TEST</a:t>
            </a:r>
            <a:endParaRPr lang="en-US" sz="1000"/>
          </a:p>
        </p:txBody>
      </p:sp>
      <p:sp>
        <p:nvSpPr>
          <p:cNvPr id="273" name="Text 273"/>
          <p:cNvSpPr/>
          <p:nvPr/>
        </p:nvSpPr>
        <p:spPr>
          <a:xfrm>
            <a:off x="5730000" y="2330000"/>
            <a:ext cx="40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true">
                <a:solidFill>
                  <a:srgbClr val="F7FAFC"/>
                </a:solidFill>
                <a:latin typeface="Aptos"/>
              </a:rPr>
              <a:t>Memory load</a:t>
            </a:r>
            <a:endParaRPr lang="en-US" sz="1700"/>
          </a:p>
        </p:txBody>
      </p:sp>
      <p:sp>
        <p:nvSpPr>
          <p:cNvPr id="274" name="Text 274"/>
          <p:cNvSpPr/>
          <p:nvPr/>
        </p:nvSpPr>
        <p:spPr>
          <a:xfrm>
            <a:off x="5730000" y="2790000"/>
            <a:ext cx="4000000" cy="1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false">
                <a:solidFill>
                  <a:srgbClr val="9DABC0"/>
                </a:solidFill>
                <a:latin typeface="Aptos"/>
              </a:rPr>
              <a:t>GET /load?mode=memory&amp;mb=15</a:t>
            </a:r>
            <a:endParaRPr lang="en-US" sz="1700"/>
          </a:p>
          <a:p>
            <a:pPr algn="l"/>
            <a:r>
              <a:rPr lang="en-US" sz="1700" b="false">
                <a:solidFill>
                  <a:srgbClr val="9DABC0"/>
                </a:solidFill>
                <a:latin typeface="Aptos"/>
              </a:rPr>
              <a:t>repeat up to six times</a:t>
            </a:r>
            <a:endParaRPr lang="en-US" sz="1700"/>
          </a:p>
          <a:p>
            <a:pPr algn="l"/>
            <a:r>
              <a:rPr lang="en-US" sz="1700" b="false">
                <a:solidFill>
                  <a:srgbClr val="9DABC0"/>
                </a:solidFill>
                <a:latin typeface="Aptos"/>
              </a:rPr>
              <a:t/>
            </a:r>
            <a:endParaRPr lang="en-US" sz="1700"/>
          </a:p>
          <a:p>
            <a:pPr algn="l"/>
            <a:r>
              <a:rPr lang="en-US" sz="1700" b="false">
                <a:solidFill>
                  <a:srgbClr val="9DABC0"/>
                </a:solidFill>
                <a:latin typeface="Aptos"/>
              </a:rPr>
              <a:t>Expect: working set rises in the receiving pod.</a:t>
            </a:r>
            <a:endParaRPr lang="en-US" sz="1700"/>
          </a:p>
        </p:txBody>
      </p:sp>
      <p:sp>
        <p:nvSpPr>
          <p:cNvPr id="275" name="Text 275"/>
          <p:cNvSpPr/>
          <p:nvPr/>
        </p:nvSpPr>
        <p:spPr>
          <a:xfrm>
            <a:off x="1300000" y="5300000"/>
            <a:ext cx="9000000" cy="4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en-US" sz="1800" b="true">
                <a:solidFill>
                  <a:srgbClr val="9DABC0"/>
                </a:solidFill>
                <a:latin typeface="Aptos"/>
              </a:rPr>
              <a:t>Use the dashboard to compare behavior with configured limits. Do not invent measured percentages before running the cluster.</a:t>
            </a:r>
            <a:endParaRPr lang="en-US" sz="1800"/>
          </a:p>
        </p:txBody>
      </p:sp>
      <p:sp>
        <p:nvSpPr>
          <p:cNvPr id="279" name="Text 279"/>
          <p:cNvSpPr/>
          <p:nvPr/>
        </p:nvSpPr>
        <p:spPr>
          <a:xfrm>
            <a:off x="650000" y="6570000"/>
            <a:ext cx="7000000" cy="1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900" b="true">
                <a:solidFill>
                  <a:srgbClr val="63758F"/>
                </a:solidFill>
                <a:latin typeface="Aptos"/>
              </a:rPr>
              <a:t>KUBERNETES WORKLOAD RELIABILITY  /  DEVOPS MINI-PROJECT</a:t>
            </a:r>
            <a:endParaRPr lang="en-US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1" name="Box 30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020"/>
          </a:solidFill>
          <a:ln w="10000">
            <a:solidFill>
              <a:srgbClr val="0A1020"/>
            </a:solidFill>
          </a:ln>
        </p:spPr>
      </p:sp>
      <p:sp>
        <p:nvSpPr>
          <p:cNvPr id="302" name="Dot 302"/>
          <p:cNvSpPr/>
          <p:nvPr/>
        </p:nvSpPr>
        <p:spPr>
          <a:xfrm>
            <a:off x="11000000" y="500000"/>
            <a:ext cx="900000" cy="900000"/>
          </a:xfrm>
          <a:prstGeom prst="ellipse">
            <a:avLst/>
          </a:prstGeom>
          <a:solidFill>
            <a:srgbClr val="10263A"/>
          </a:solidFill>
          <a:ln>
            <a:noFill/>
          </a:ln>
        </p:spPr>
      </p:sp>
      <p:sp>
        <p:nvSpPr>
          <p:cNvPr id="303" name="Dot 303"/>
          <p:cNvSpPr/>
          <p:nvPr/>
        </p:nvSpPr>
        <p:spPr>
          <a:xfrm>
            <a:off x="11190000" y="690000"/>
            <a:ext cx="400000" cy="400000"/>
          </a:xfrm>
          <a:prstGeom prst="ellipse">
            <a:avLst/>
          </a:prstGeom>
          <a:solidFill>
            <a:srgbClr val="FF8A3D"/>
          </a:solidFill>
          <a:ln>
            <a:noFill/>
          </a:ln>
        </p:spPr>
      </p:sp>
      <p:sp>
        <p:nvSpPr>
          <p:cNvPr id="280" name="Text 280"/>
          <p:cNvSpPr/>
          <p:nvPr/>
        </p:nvSpPr>
        <p:spPr>
          <a:xfrm>
            <a:off x="650000" y="330000"/>
            <a:ext cx="30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FF8A3D"/>
                </a:solidFill>
                <a:latin typeface="Aptos"/>
              </a:rPr>
              <a:t>EXPERIMENT 02</a:t>
            </a:r>
            <a:endParaRPr lang="en-US" sz="1000"/>
          </a:p>
        </p:txBody>
      </p:sp>
      <p:sp>
        <p:nvSpPr>
          <p:cNvPr id="281" name="Text 281"/>
          <p:cNvSpPr/>
          <p:nvPr/>
        </p:nvSpPr>
        <p:spPr>
          <a:xfrm>
            <a:off x="650000" y="650000"/>
            <a:ext cx="105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700" b="true">
                <a:solidFill>
                  <a:srgbClr val="F7FAFC"/>
                </a:solidFill>
                <a:latin typeface="Aptos"/>
              </a:rPr>
              <a:t>Error rate becomes an alert</a:t>
            </a:r>
            <a:endParaRPr lang="en-US" sz="2700"/>
          </a:p>
        </p:txBody>
      </p:sp>
      <p:sp>
        <p:nvSpPr>
          <p:cNvPr id="282" name="Text 282"/>
          <p:cNvSpPr/>
          <p:nvPr/>
        </p:nvSpPr>
        <p:spPr>
          <a:xfrm>
            <a:off x="11300000" y="430000"/>
            <a:ext cx="4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1200" b="true">
                <a:solidFill>
                  <a:srgbClr val="9DABC0"/>
                </a:solidFill>
                <a:latin typeface="Aptos"/>
              </a:rPr>
              <a:t>11</a:t>
            </a:r>
            <a:endParaRPr lang="en-US" sz="1200"/>
          </a:p>
        </p:txBody>
      </p:sp>
      <p:sp>
        <p:nvSpPr>
          <p:cNvPr id="283" name="Box 283"/>
          <p:cNvSpPr/>
          <p:nvPr/>
        </p:nvSpPr>
        <p:spPr>
          <a:xfrm>
            <a:off x="650000" y="1400000"/>
            <a:ext cx="11000000" cy="18000"/>
          </a:xfrm>
          <a:prstGeom prst="rect">
            <a:avLst/>
          </a:prstGeom>
          <a:solidFill>
            <a:srgbClr val="23304A"/>
          </a:solidFill>
          <a:ln w="10000">
            <a:solidFill>
              <a:srgbClr val="23304A"/>
            </a:solidFill>
          </a:ln>
        </p:spPr>
      </p:sp>
      <p:sp>
        <p:nvSpPr>
          <p:cNvPr id="284" name="Text 284"/>
          <p:cNvSpPr/>
          <p:nvPr/>
        </p:nvSpPr>
        <p:spPr>
          <a:xfrm>
            <a:off x="850000" y="1800000"/>
            <a:ext cx="95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900" b="true">
                <a:solidFill>
                  <a:srgbClr val="F7FAFC"/>
                </a:solidFill>
                <a:latin typeface="Aptos"/>
              </a:rPr>
              <a:t>The application deliberately returns HTTP 500 responses so the alert path is visible.</a:t>
            </a:r>
            <a:endParaRPr lang="en-US" sz="1900"/>
          </a:p>
        </p:txBody>
      </p:sp>
      <p:sp>
        <p:nvSpPr>
          <p:cNvPr id="285" name="Box 285"/>
          <p:cNvSpPr/>
          <p:nvPr/>
        </p:nvSpPr>
        <p:spPr>
          <a:xfrm>
            <a:off x="850000" y="2900000"/>
            <a:ext cx="3000000" cy="1300000"/>
          </a:xfrm>
          <a:prstGeom prst="roundRect">
            <a:avLst/>
          </a:prstGeom>
          <a:solidFill>
            <a:srgbClr val="121B2E"/>
          </a:solidFill>
          <a:ln w="10000">
            <a:solidFill>
              <a:srgbClr val="23304A"/>
            </a:solidFill>
          </a:ln>
        </p:spPr>
      </p:sp>
      <p:sp>
        <p:nvSpPr>
          <p:cNvPr id="286" name="Box 286"/>
          <p:cNvSpPr/>
          <p:nvPr/>
        </p:nvSpPr>
        <p:spPr>
          <a:xfrm>
            <a:off x="850000" y="2900000"/>
            <a:ext cx="85000" cy="1300000"/>
          </a:xfrm>
          <a:prstGeom prst="rect">
            <a:avLst/>
          </a:prstGeom>
          <a:solidFill>
            <a:srgbClr val="F36D8D"/>
          </a:solidFill>
          <a:ln w="10000">
            <a:solidFill>
              <a:srgbClr val="F36D8D"/>
            </a:solidFill>
          </a:ln>
        </p:spPr>
      </p:sp>
      <p:sp>
        <p:nvSpPr>
          <p:cNvPr id="287" name="Text 287"/>
          <p:cNvSpPr/>
          <p:nvPr/>
        </p:nvSpPr>
        <p:spPr>
          <a:xfrm>
            <a:off x="1030000" y="3040000"/>
            <a:ext cx="2700000" cy="2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F36D8D"/>
                </a:solidFill>
                <a:latin typeface="Aptos"/>
              </a:rPr>
              <a:t>01</a:t>
            </a:r>
            <a:endParaRPr lang="en-US" sz="1000"/>
          </a:p>
        </p:txBody>
      </p:sp>
      <p:sp>
        <p:nvSpPr>
          <p:cNvPr id="288" name="Text 288"/>
          <p:cNvSpPr/>
          <p:nvPr/>
        </p:nvSpPr>
        <p:spPr>
          <a:xfrm>
            <a:off x="1030000" y="3330000"/>
            <a:ext cx="27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true">
                <a:solidFill>
                  <a:srgbClr val="F7FAFC"/>
                </a:solidFill>
                <a:latin typeface="Aptos"/>
              </a:rPr>
              <a:t>Generate</a:t>
            </a:r>
            <a:endParaRPr lang="en-US" sz="1700"/>
          </a:p>
        </p:txBody>
      </p:sp>
      <p:sp>
        <p:nvSpPr>
          <p:cNvPr id="289" name="Text 289"/>
          <p:cNvSpPr/>
          <p:nvPr/>
        </p:nvSpPr>
        <p:spPr>
          <a:xfrm>
            <a:off x="1030000" y="3790000"/>
            <a:ext cx="27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false">
                <a:solidFill>
                  <a:srgbClr val="9DABC0"/>
                </a:solidFill>
                <a:latin typeface="Aptos"/>
              </a:rPr>
              <a:t>1..20 → /load?mode=error</a:t>
            </a:r>
            <a:endParaRPr lang="en-US" sz="1500"/>
          </a:p>
        </p:txBody>
      </p:sp>
      <p:sp>
        <p:nvSpPr>
          <p:cNvPr id="290" name="Box 290"/>
          <p:cNvSpPr/>
          <p:nvPr/>
        </p:nvSpPr>
        <p:spPr>
          <a:xfrm>
            <a:off x="4100000" y="2900000"/>
            <a:ext cx="3000000" cy="1300000"/>
          </a:xfrm>
          <a:prstGeom prst="roundRect">
            <a:avLst/>
          </a:prstGeom>
          <a:solidFill>
            <a:srgbClr val="121B2E"/>
          </a:solidFill>
          <a:ln w="10000">
            <a:solidFill>
              <a:srgbClr val="23304A"/>
            </a:solidFill>
          </a:ln>
        </p:spPr>
      </p:sp>
      <p:sp>
        <p:nvSpPr>
          <p:cNvPr id="291" name="Box 291"/>
          <p:cNvSpPr/>
          <p:nvPr/>
        </p:nvSpPr>
        <p:spPr>
          <a:xfrm>
            <a:off x="4100000" y="2900000"/>
            <a:ext cx="85000" cy="1300000"/>
          </a:xfrm>
          <a:prstGeom prst="rect">
            <a:avLst/>
          </a:prstGeom>
          <a:solidFill>
            <a:srgbClr val="45D7E8"/>
          </a:solidFill>
          <a:ln w="10000">
            <a:solidFill>
              <a:srgbClr val="45D7E8"/>
            </a:solidFill>
          </a:ln>
        </p:spPr>
      </p:sp>
      <p:sp>
        <p:nvSpPr>
          <p:cNvPr id="292" name="Text 292"/>
          <p:cNvSpPr/>
          <p:nvPr/>
        </p:nvSpPr>
        <p:spPr>
          <a:xfrm>
            <a:off x="4280000" y="3040000"/>
            <a:ext cx="2700000" cy="2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45D7E8"/>
                </a:solidFill>
                <a:latin typeface="Aptos"/>
              </a:rPr>
              <a:t>02</a:t>
            </a:r>
            <a:endParaRPr lang="en-US" sz="1000"/>
          </a:p>
        </p:txBody>
      </p:sp>
      <p:sp>
        <p:nvSpPr>
          <p:cNvPr id="293" name="Text 293"/>
          <p:cNvSpPr/>
          <p:nvPr/>
        </p:nvSpPr>
        <p:spPr>
          <a:xfrm>
            <a:off x="4280000" y="3330000"/>
            <a:ext cx="27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true">
                <a:solidFill>
                  <a:srgbClr val="F7FAFC"/>
                </a:solidFill>
                <a:latin typeface="Aptos"/>
              </a:rPr>
              <a:t>Measure</a:t>
            </a:r>
            <a:endParaRPr lang="en-US" sz="1700"/>
          </a:p>
        </p:txBody>
      </p:sp>
      <p:sp>
        <p:nvSpPr>
          <p:cNvPr id="294" name="Text 294"/>
          <p:cNvSpPr/>
          <p:nvPr/>
        </p:nvSpPr>
        <p:spPr>
          <a:xfrm>
            <a:off x="4280000" y="3790000"/>
            <a:ext cx="27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false">
                <a:solidFill>
                  <a:srgbClr val="9DABC0"/>
                </a:solidFill>
                <a:latin typeface="Aptos"/>
              </a:rPr>
              <a:t>demo_http_requests_total{status=~"5.."}</a:t>
            </a:r>
            <a:endParaRPr lang="en-US" sz="1500"/>
          </a:p>
        </p:txBody>
      </p:sp>
      <p:sp>
        <p:nvSpPr>
          <p:cNvPr id="295" name="Box 295"/>
          <p:cNvSpPr/>
          <p:nvPr/>
        </p:nvSpPr>
        <p:spPr>
          <a:xfrm>
            <a:off x="7350000" y="2900000"/>
            <a:ext cx="3000000" cy="1300000"/>
          </a:xfrm>
          <a:prstGeom prst="roundRect">
            <a:avLst/>
          </a:prstGeom>
          <a:solidFill>
            <a:srgbClr val="121B2E"/>
          </a:solidFill>
          <a:ln w="10000">
            <a:solidFill>
              <a:srgbClr val="23304A"/>
            </a:solidFill>
          </a:ln>
        </p:spPr>
      </p:sp>
      <p:sp>
        <p:nvSpPr>
          <p:cNvPr id="296" name="Box 296"/>
          <p:cNvSpPr/>
          <p:nvPr/>
        </p:nvSpPr>
        <p:spPr>
          <a:xfrm>
            <a:off x="7350000" y="2900000"/>
            <a:ext cx="85000" cy="1300000"/>
          </a:xfrm>
          <a:prstGeom prst="rect">
            <a:avLst/>
          </a:prstGeom>
          <a:solidFill>
            <a:srgbClr val="FF8A3D"/>
          </a:solidFill>
          <a:ln w="10000">
            <a:solidFill>
              <a:srgbClr val="FF8A3D"/>
            </a:solidFill>
          </a:ln>
        </p:spPr>
      </p:sp>
      <p:sp>
        <p:nvSpPr>
          <p:cNvPr id="297" name="Text 297"/>
          <p:cNvSpPr/>
          <p:nvPr/>
        </p:nvSpPr>
        <p:spPr>
          <a:xfrm>
            <a:off x="7530000" y="3040000"/>
            <a:ext cx="2700000" cy="2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FF8A3D"/>
                </a:solidFill>
                <a:latin typeface="Aptos"/>
              </a:rPr>
              <a:t>03</a:t>
            </a:r>
            <a:endParaRPr lang="en-US" sz="1000"/>
          </a:p>
        </p:txBody>
      </p:sp>
      <p:sp>
        <p:nvSpPr>
          <p:cNvPr id="298" name="Text 298"/>
          <p:cNvSpPr/>
          <p:nvPr/>
        </p:nvSpPr>
        <p:spPr>
          <a:xfrm>
            <a:off x="7530000" y="3330000"/>
            <a:ext cx="27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true">
                <a:solidFill>
                  <a:srgbClr val="F7FAFC"/>
                </a:solidFill>
                <a:latin typeface="Aptos"/>
              </a:rPr>
              <a:t>Alert</a:t>
            </a:r>
            <a:endParaRPr lang="en-US" sz="1700"/>
          </a:p>
        </p:txBody>
      </p:sp>
      <p:sp>
        <p:nvSpPr>
          <p:cNvPr id="299" name="Text 299"/>
          <p:cNvSpPr/>
          <p:nvPr/>
        </p:nvSpPr>
        <p:spPr>
          <a:xfrm>
            <a:off x="7530000" y="3790000"/>
            <a:ext cx="27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false">
                <a:solidFill>
                  <a:srgbClr val="9DABC0"/>
                </a:solidFill>
                <a:latin typeface="Aptos"/>
              </a:rPr>
              <a:t>ApplicationHighErrorRate</a:t>
            </a:r>
            <a:endParaRPr lang="en-US" sz="1500"/>
          </a:p>
          <a:p>
            <a:pPr algn="l"/>
            <a:r>
              <a:rPr lang="en-US" sz="1500" b="false">
                <a:solidFill>
                  <a:srgbClr val="9DABC0"/>
                </a:solidFill>
                <a:latin typeface="Aptos"/>
              </a:rPr>
              <a:t>&gt; 10% for 1 minute</a:t>
            </a:r>
            <a:endParaRPr lang="en-US" sz="1500"/>
          </a:p>
        </p:txBody>
      </p:sp>
      <p:sp>
        <p:nvSpPr>
          <p:cNvPr id="300" name="Text 300"/>
          <p:cNvSpPr/>
          <p:nvPr/>
        </p:nvSpPr>
        <p:spPr>
          <a:xfrm>
            <a:off x="1800000" y="5100000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en-US" sz="1600" b="true">
                <a:solidFill>
                  <a:srgbClr val="9DABC0"/>
                </a:solidFill>
                <a:latin typeface="Aptos"/>
              </a:rPr>
              <a:t>Alert evaluation is not notification delivery. Alertmanager receivers are a future extension.</a:t>
            </a:r>
            <a:endParaRPr lang="en-US" sz="1600"/>
          </a:p>
        </p:txBody>
      </p:sp>
      <p:sp>
        <p:nvSpPr>
          <p:cNvPr id="304" name="Text 304"/>
          <p:cNvSpPr/>
          <p:nvPr/>
        </p:nvSpPr>
        <p:spPr>
          <a:xfrm>
            <a:off x="650000" y="6570000"/>
            <a:ext cx="7000000" cy="1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900" b="true">
                <a:solidFill>
                  <a:srgbClr val="63758F"/>
                </a:solidFill>
                <a:latin typeface="Aptos"/>
              </a:rPr>
              <a:t>KUBERNETES WORKLOAD RELIABILITY  /  DEVOPS MINI-PROJECT</a:t>
            </a:r>
            <a:endParaRPr lang="en-US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" name="Box 3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020"/>
          </a:solidFill>
          <a:ln w="10000">
            <a:solidFill>
              <a:srgbClr val="0A1020"/>
            </a:solidFill>
          </a:ln>
        </p:spPr>
      </p:sp>
      <p:sp>
        <p:nvSpPr>
          <p:cNvPr id="328" name="Dot 328"/>
          <p:cNvSpPr/>
          <p:nvPr/>
        </p:nvSpPr>
        <p:spPr>
          <a:xfrm>
            <a:off x="11000000" y="500000"/>
            <a:ext cx="900000" cy="900000"/>
          </a:xfrm>
          <a:prstGeom prst="ellipse">
            <a:avLst/>
          </a:prstGeom>
          <a:solidFill>
            <a:srgbClr val="10263A"/>
          </a:solidFill>
          <a:ln>
            <a:noFill/>
          </a:ln>
        </p:spPr>
      </p:sp>
      <p:sp>
        <p:nvSpPr>
          <p:cNvPr id="329" name="Dot 329"/>
          <p:cNvSpPr/>
          <p:nvPr/>
        </p:nvSpPr>
        <p:spPr>
          <a:xfrm>
            <a:off x="11190000" y="690000"/>
            <a:ext cx="400000" cy="400000"/>
          </a:xfrm>
          <a:prstGeom prst="ellipse">
            <a:avLst/>
          </a:prstGeom>
          <a:solidFill>
            <a:srgbClr val="FF8A3D"/>
          </a:solidFill>
          <a:ln>
            <a:noFill/>
          </a:ln>
        </p:spPr>
      </p:sp>
      <p:sp>
        <p:nvSpPr>
          <p:cNvPr id="305" name="Text 305"/>
          <p:cNvSpPr/>
          <p:nvPr/>
        </p:nvSpPr>
        <p:spPr>
          <a:xfrm>
            <a:off x="650000" y="330000"/>
            <a:ext cx="30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FF8A3D"/>
                </a:solidFill>
                <a:latin typeface="Aptos"/>
              </a:rPr>
              <a:t>EXPERIMENT 03</a:t>
            </a:r>
            <a:endParaRPr lang="en-US" sz="1000"/>
          </a:p>
        </p:txBody>
      </p:sp>
      <p:sp>
        <p:nvSpPr>
          <p:cNvPr id="306" name="Text 306"/>
          <p:cNvSpPr/>
          <p:nvPr/>
        </p:nvSpPr>
        <p:spPr>
          <a:xfrm>
            <a:off x="650000" y="650000"/>
            <a:ext cx="105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700" b="true">
                <a:solidFill>
                  <a:srgbClr val="F7FAFC"/>
                </a:solidFill>
                <a:latin typeface="Aptos"/>
              </a:rPr>
              <a:t>Self-healing belongs to Kubernetes</a:t>
            </a:r>
            <a:endParaRPr lang="en-US" sz="2700"/>
          </a:p>
        </p:txBody>
      </p:sp>
      <p:sp>
        <p:nvSpPr>
          <p:cNvPr id="307" name="Text 307"/>
          <p:cNvSpPr/>
          <p:nvPr/>
        </p:nvSpPr>
        <p:spPr>
          <a:xfrm>
            <a:off x="11300000" y="430000"/>
            <a:ext cx="4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1200" b="true">
                <a:solidFill>
                  <a:srgbClr val="9DABC0"/>
                </a:solidFill>
                <a:latin typeface="Aptos"/>
              </a:rPr>
              <a:t>12</a:t>
            </a:r>
            <a:endParaRPr lang="en-US" sz="1200"/>
          </a:p>
        </p:txBody>
      </p:sp>
      <p:sp>
        <p:nvSpPr>
          <p:cNvPr id="308" name="Box 308"/>
          <p:cNvSpPr/>
          <p:nvPr/>
        </p:nvSpPr>
        <p:spPr>
          <a:xfrm>
            <a:off x="650000" y="1400000"/>
            <a:ext cx="11000000" cy="18000"/>
          </a:xfrm>
          <a:prstGeom prst="rect">
            <a:avLst/>
          </a:prstGeom>
          <a:solidFill>
            <a:srgbClr val="23304A"/>
          </a:solidFill>
          <a:ln w="10000">
            <a:solidFill>
              <a:srgbClr val="23304A"/>
            </a:solidFill>
          </a:ln>
        </p:spPr>
      </p:sp>
      <p:sp>
        <p:nvSpPr>
          <p:cNvPr id="309" name="Box 309"/>
          <p:cNvSpPr/>
          <p:nvPr/>
        </p:nvSpPr>
        <p:spPr>
          <a:xfrm>
            <a:off x="850000" y="2050000"/>
            <a:ext cx="2700000" cy="1250000"/>
          </a:xfrm>
          <a:prstGeom prst="roundRect">
            <a:avLst/>
          </a:prstGeom>
          <a:solidFill>
            <a:srgbClr val="121B2E"/>
          </a:solidFill>
          <a:ln w="10000">
            <a:solidFill>
              <a:srgbClr val="23304A"/>
            </a:solidFill>
          </a:ln>
        </p:spPr>
      </p:sp>
      <p:sp>
        <p:nvSpPr>
          <p:cNvPr id="310" name="Box 310"/>
          <p:cNvSpPr/>
          <p:nvPr/>
        </p:nvSpPr>
        <p:spPr>
          <a:xfrm>
            <a:off x="850000" y="2050000"/>
            <a:ext cx="85000" cy="1250000"/>
          </a:xfrm>
          <a:prstGeom prst="rect">
            <a:avLst/>
          </a:prstGeom>
          <a:solidFill>
            <a:srgbClr val="F36D8D"/>
          </a:solidFill>
          <a:ln w="10000">
            <a:solidFill>
              <a:srgbClr val="F36D8D"/>
            </a:solidFill>
          </a:ln>
        </p:spPr>
      </p:sp>
      <p:sp>
        <p:nvSpPr>
          <p:cNvPr id="311" name="Text 311"/>
          <p:cNvSpPr/>
          <p:nvPr/>
        </p:nvSpPr>
        <p:spPr>
          <a:xfrm>
            <a:off x="1030000" y="2190000"/>
            <a:ext cx="2400000" cy="2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F36D8D"/>
                </a:solidFill>
                <a:latin typeface="Aptos"/>
              </a:rPr>
              <a:t>ACTION</a:t>
            </a:r>
            <a:endParaRPr lang="en-US" sz="1000"/>
          </a:p>
        </p:txBody>
      </p:sp>
      <p:sp>
        <p:nvSpPr>
          <p:cNvPr id="312" name="Text 312"/>
          <p:cNvSpPr/>
          <p:nvPr/>
        </p:nvSpPr>
        <p:spPr>
          <a:xfrm>
            <a:off x="1030000" y="2480000"/>
            <a:ext cx="24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true">
                <a:solidFill>
                  <a:srgbClr val="F7FAFC"/>
                </a:solidFill>
                <a:latin typeface="Aptos"/>
              </a:rPr>
              <a:t>1  Delete</a:t>
            </a:r>
            <a:endParaRPr lang="en-US" sz="1700"/>
          </a:p>
        </p:txBody>
      </p:sp>
      <p:sp>
        <p:nvSpPr>
          <p:cNvPr id="313" name="Text 313"/>
          <p:cNvSpPr/>
          <p:nvPr/>
        </p:nvSpPr>
        <p:spPr>
          <a:xfrm>
            <a:off x="1030000" y="2940000"/>
            <a:ext cx="2400000" cy="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600" b="false">
                <a:solidFill>
                  <a:srgbClr val="9DABC0"/>
                </a:solidFill>
                <a:latin typeface="Aptos"/>
              </a:rPr>
              <a:t>kubectl delete pod &lt;name&gt;</a:t>
            </a:r>
            <a:endParaRPr lang="en-US" sz="1600"/>
          </a:p>
        </p:txBody>
      </p:sp>
      <p:sp>
        <p:nvSpPr>
          <p:cNvPr id="314" name="Text 314"/>
          <p:cNvSpPr/>
          <p:nvPr/>
        </p:nvSpPr>
        <p:spPr>
          <a:xfrm>
            <a:off x="3650000" y="240000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en-US" sz="2600" b="true">
                <a:solidFill>
                  <a:srgbClr val="FF8A3D"/>
                </a:solidFill>
                <a:latin typeface="Aptos"/>
              </a:rPr>
              <a:t>→</a:t>
            </a:r>
            <a:endParaRPr lang="en-US" sz="2600"/>
          </a:p>
        </p:txBody>
      </p:sp>
      <p:sp>
        <p:nvSpPr>
          <p:cNvPr id="315" name="Box 315"/>
          <p:cNvSpPr/>
          <p:nvPr/>
        </p:nvSpPr>
        <p:spPr>
          <a:xfrm>
            <a:off x="4100000" y="2050000"/>
            <a:ext cx="2700000" cy="1250000"/>
          </a:xfrm>
          <a:prstGeom prst="roundRect">
            <a:avLst/>
          </a:prstGeom>
          <a:solidFill>
            <a:srgbClr val="121B2E"/>
          </a:solidFill>
          <a:ln w="10000">
            <a:solidFill>
              <a:srgbClr val="23304A"/>
            </a:solidFill>
          </a:ln>
        </p:spPr>
      </p:sp>
      <p:sp>
        <p:nvSpPr>
          <p:cNvPr id="316" name="Box 316"/>
          <p:cNvSpPr/>
          <p:nvPr/>
        </p:nvSpPr>
        <p:spPr>
          <a:xfrm>
            <a:off x="4100000" y="2050000"/>
            <a:ext cx="85000" cy="1250000"/>
          </a:xfrm>
          <a:prstGeom prst="rect">
            <a:avLst/>
          </a:prstGeom>
          <a:solidFill>
            <a:srgbClr val="FF8A3D"/>
          </a:solidFill>
          <a:ln w="10000">
            <a:solidFill>
              <a:srgbClr val="FF8A3D"/>
            </a:solidFill>
          </a:ln>
        </p:spPr>
      </p:sp>
      <p:sp>
        <p:nvSpPr>
          <p:cNvPr id="317" name="Text 317"/>
          <p:cNvSpPr/>
          <p:nvPr/>
        </p:nvSpPr>
        <p:spPr>
          <a:xfrm>
            <a:off x="4280000" y="2190000"/>
            <a:ext cx="2400000" cy="2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FF8A3D"/>
                </a:solidFill>
                <a:latin typeface="Aptos"/>
              </a:rPr>
              <a:t>CONTROLLER</a:t>
            </a:r>
            <a:endParaRPr lang="en-US" sz="1000"/>
          </a:p>
        </p:txBody>
      </p:sp>
      <p:sp>
        <p:nvSpPr>
          <p:cNvPr id="318" name="Text 318"/>
          <p:cNvSpPr/>
          <p:nvPr/>
        </p:nvSpPr>
        <p:spPr>
          <a:xfrm>
            <a:off x="4280000" y="2480000"/>
            <a:ext cx="24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true">
                <a:solidFill>
                  <a:srgbClr val="F7FAFC"/>
                </a:solidFill>
                <a:latin typeface="Aptos"/>
              </a:rPr>
              <a:t>2  Reconcile</a:t>
            </a:r>
            <a:endParaRPr lang="en-US" sz="1700"/>
          </a:p>
        </p:txBody>
      </p:sp>
      <p:sp>
        <p:nvSpPr>
          <p:cNvPr id="319" name="Text 319"/>
          <p:cNvSpPr/>
          <p:nvPr/>
        </p:nvSpPr>
        <p:spPr>
          <a:xfrm>
            <a:off x="4280000" y="2940000"/>
            <a:ext cx="2400000" cy="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600" b="false">
                <a:solidFill>
                  <a:srgbClr val="9DABC0"/>
                </a:solidFill>
                <a:latin typeface="Aptos"/>
              </a:rPr>
              <a:t>Deployment sees replicas below desired state.</a:t>
            </a:r>
            <a:endParaRPr lang="en-US" sz="1600"/>
          </a:p>
        </p:txBody>
      </p:sp>
      <p:sp>
        <p:nvSpPr>
          <p:cNvPr id="320" name="Text 320"/>
          <p:cNvSpPr/>
          <p:nvPr/>
        </p:nvSpPr>
        <p:spPr>
          <a:xfrm>
            <a:off x="6900000" y="240000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en-US" sz="2600" b="true">
                <a:solidFill>
                  <a:srgbClr val="FF8A3D"/>
                </a:solidFill>
                <a:latin typeface="Aptos"/>
              </a:rPr>
              <a:t>→</a:t>
            </a:r>
            <a:endParaRPr lang="en-US" sz="2600"/>
          </a:p>
        </p:txBody>
      </p:sp>
      <p:sp>
        <p:nvSpPr>
          <p:cNvPr id="321" name="Box 321"/>
          <p:cNvSpPr/>
          <p:nvPr/>
        </p:nvSpPr>
        <p:spPr>
          <a:xfrm>
            <a:off x="7350000" y="2050000"/>
            <a:ext cx="2700000" cy="1250000"/>
          </a:xfrm>
          <a:prstGeom prst="roundRect">
            <a:avLst/>
          </a:prstGeom>
          <a:solidFill>
            <a:srgbClr val="121B2E"/>
          </a:solidFill>
          <a:ln w="10000">
            <a:solidFill>
              <a:srgbClr val="23304A"/>
            </a:solidFill>
          </a:ln>
        </p:spPr>
      </p:sp>
      <p:sp>
        <p:nvSpPr>
          <p:cNvPr id="322" name="Box 322"/>
          <p:cNvSpPr/>
          <p:nvPr/>
        </p:nvSpPr>
        <p:spPr>
          <a:xfrm>
            <a:off x="7350000" y="2050000"/>
            <a:ext cx="85000" cy="1250000"/>
          </a:xfrm>
          <a:prstGeom prst="rect">
            <a:avLst/>
          </a:prstGeom>
          <a:solidFill>
            <a:srgbClr val="65D69C"/>
          </a:solidFill>
          <a:ln w="10000">
            <a:solidFill>
              <a:srgbClr val="65D69C"/>
            </a:solidFill>
          </a:ln>
        </p:spPr>
      </p:sp>
      <p:sp>
        <p:nvSpPr>
          <p:cNvPr id="323" name="Text 323"/>
          <p:cNvSpPr/>
          <p:nvPr/>
        </p:nvSpPr>
        <p:spPr>
          <a:xfrm>
            <a:off x="7530000" y="2190000"/>
            <a:ext cx="2400000" cy="2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65D69C"/>
                </a:solidFill>
                <a:latin typeface="Aptos"/>
              </a:rPr>
              <a:t>RECOVERY</a:t>
            </a:r>
            <a:endParaRPr lang="en-US" sz="1000"/>
          </a:p>
        </p:txBody>
      </p:sp>
      <p:sp>
        <p:nvSpPr>
          <p:cNvPr id="324" name="Text 324"/>
          <p:cNvSpPr/>
          <p:nvPr/>
        </p:nvSpPr>
        <p:spPr>
          <a:xfrm>
            <a:off x="7530000" y="2480000"/>
            <a:ext cx="24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true">
                <a:solidFill>
                  <a:srgbClr val="F7FAFC"/>
                </a:solidFill>
                <a:latin typeface="Aptos"/>
              </a:rPr>
              <a:t>3  Replace</a:t>
            </a:r>
            <a:endParaRPr lang="en-US" sz="1700"/>
          </a:p>
        </p:txBody>
      </p:sp>
      <p:sp>
        <p:nvSpPr>
          <p:cNvPr id="325" name="Text 325"/>
          <p:cNvSpPr/>
          <p:nvPr/>
        </p:nvSpPr>
        <p:spPr>
          <a:xfrm>
            <a:off x="7530000" y="2940000"/>
            <a:ext cx="2400000" cy="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600" b="false">
                <a:solidFill>
                  <a:srgbClr val="9DABC0"/>
                </a:solidFill>
                <a:latin typeface="Aptos"/>
              </a:rPr>
              <a:t>A new pod starts and becomes ready.</a:t>
            </a:r>
            <a:endParaRPr lang="en-US" sz="1600"/>
          </a:p>
        </p:txBody>
      </p:sp>
      <p:sp>
        <p:nvSpPr>
          <p:cNvPr id="326" name="Text 326"/>
          <p:cNvSpPr/>
          <p:nvPr/>
        </p:nvSpPr>
        <p:spPr>
          <a:xfrm>
            <a:off x="1600000" y="5100000"/>
            <a:ext cx="8500000" cy="4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en-US" sz="1900" b="true">
                <a:solidFill>
                  <a:srgbClr val="45D7E8"/>
                </a:solidFill>
                <a:latin typeface="Aptos"/>
              </a:rPr>
              <a:t>Prometheus detects and displays the condition. Kubernetes performs the repair.</a:t>
            </a:r>
            <a:endParaRPr lang="en-US" sz="1900"/>
          </a:p>
        </p:txBody>
      </p:sp>
      <p:sp>
        <p:nvSpPr>
          <p:cNvPr id="330" name="Text 330"/>
          <p:cNvSpPr/>
          <p:nvPr/>
        </p:nvSpPr>
        <p:spPr>
          <a:xfrm>
            <a:off x="650000" y="6570000"/>
            <a:ext cx="7000000" cy="1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900" b="true">
                <a:solidFill>
                  <a:srgbClr val="63758F"/>
                </a:solidFill>
                <a:latin typeface="Aptos"/>
              </a:rPr>
              <a:t>KUBERNETES WORKLOAD RELIABILITY  /  DEVOPS MINI-PROJECT</a:t>
            </a:r>
            <a:endParaRPr lang="en-US"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2" name="Box 35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020"/>
          </a:solidFill>
          <a:ln w="10000">
            <a:solidFill>
              <a:srgbClr val="0A1020"/>
            </a:solidFill>
          </a:ln>
        </p:spPr>
      </p:sp>
      <p:sp>
        <p:nvSpPr>
          <p:cNvPr id="353" name="Dot 353"/>
          <p:cNvSpPr/>
          <p:nvPr/>
        </p:nvSpPr>
        <p:spPr>
          <a:xfrm>
            <a:off x="11000000" y="500000"/>
            <a:ext cx="900000" cy="900000"/>
          </a:xfrm>
          <a:prstGeom prst="ellipse">
            <a:avLst/>
          </a:prstGeom>
          <a:solidFill>
            <a:srgbClr val="10263A"/>
          </a:solidFill>
          <a:ln>
            <a:noFill/>
          </a:ln>
        </p:spPr>
      </p:sp>
      <p:sp>
        <p:nvSpPr>
          <p:cNvPr id="354" name="Dot 354"/>
          <p:cNvSpPr/>
          <p:nvPr/>
        </p:nvSpPr>
        <p:spPr>
          <a:xfrm>
            <a:off x="11190000" y="690000"/>
            <a:ext cx="400000" cy="400000"/>
          </a:xfrm>
          <a:prstGeom prst="ellipse">
            <a:avLst/>
          </a:prstGeom>
          <a:solidFill>
            <a:srgbClr val="FF8A3D"/>
          </a:solidFill>
          <a:ln>
            <a:noFill/>
          </a:ln>
        </p:spPr>
      </p:sp>
      <p:sp>
        <p:nvSpPr>
          <p:cNvPr id="331" name="Text 331"/>
          <p:cNvSpPr/>
          <p:nvPr/>
        </p:nvSpPr>
        <p:spPr>
          <a:xfrm>
            <a:off x="650000" y="330000"/>
            <a:ext cx="30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FF8A3D"/>
                </a:solidFill>
                <a:latin typeface="Aptos"/>
              </a:rPr>
              <a:t>RESULTS</a:t>
            </a:r>
            <a:endParaRPr lang="en-US" sz="1000"/>
          </a:p>
        </p:txBody>
      </p:sp>
      <p:sp>
        <p:nvSpPr>
          <p:cNvPr id="332" name="Text 332"/>
          <p:cNvSpPr/>
          <p:nvPr/>
        </p:nvSpPr>
        <p:spPr>
          <a:xfrm>
            <a:off x="650000" y="650000"/>
            <a:ext cx="105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700" b="true">
                <a:solidFill>
                  <a:srgbClr val="F7FAFC"/>
                </a:solidFill>
                <a:latin typeface="Aptos"/>
              </a:rPr>
              <a:t>Evidence checklist</a:t>
            </a:r>
            <a:endParaRPr lang="en-US" sz="2700"/>
          </a:p>
        </p:txBody>
      </p:sp>
      <p:sp>
        <p:nvSpPr>
          <p:cNvPr id="333" name="Text 333"/>
          <p:cNvSpPr/>
          <p:nvPr/>
        </p:nvSpPr>
        <p:spPr>
          <a:xfrm>
            <a:off x="11300000" y="430000"/>
            <a:ext cx="4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1200" b="true">
                <a:solidFill>
                  <a:srgbClr val="9DABC0"/>
                </a:solidFill>
                <a:latin typeface="Aptos"/>
              </a:rPr>
              <a:t>13</a:t>
            </a:r>
            <a:endParaRPr lang="en-US" sz="1200"/>
          </a:p>
        </p:txBody>
      </p:sp>
      <p:sp>
        <p:nvSpPr>
          <p:cNvPr id="334" name="Box 334"/>
          <p:cNvSpPr/>
          <p:nvPr/>
        </p:nvSpPr>
        <p:spPr>
          <a:xfrm>
            <a:off x="650000" y="1400000"/>
            <a:ext cx="11000000" cy="18000"/>
          </a:xfrm>
          <a:prstGeom prst="rect">
            <a:avLst/>
          </a:prstGeom>
          <a:solidFill>
            <a:srgbClr val="23304A"/>
          </a:solidFill>
          <a:ln w="10000">
            <a:solidFill>
              <a:srgbClr val="23304A"/>
            </a:solidFill>
          </a:ln>
        </p:spPr>
      </p:sp>
      <p:sp>
        <p:nvSpPr>
          <p:cNvPr id="335" name="Text 335"/>
          <p:cNvSpPr/>
          <p:nvPr/>
        </p:nvSpPr>
        <p:spPr>
          <a:xfrm>
            <a:off x="850000" y="1800000"/>
            <a:ext cx="90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000" b="true">
                <a:solidFill>
                  <a:srgbClr val="F7FAFC"/>
                </a:solidFill>
                <a:latin typeface="Aptos"/>
              </a:rPr>
              <a:t>The final report should use measured evidence from the local run.</a:t>
            </a:r>
            <a:endParaRPr lang="en-US" sz="2000"/>
          </a:p>
        </p:txBody>
      </p:sp>
      <p:sp>
        <p:nvSpPr>
          <p:cNvPr id="336" name="Box 336"/>
          <p:cNvSpPr/>
          <p:nvPr/>
        </p:nvSpPr>
        <p:spPr>
          <a:xfrm>
            <a:off x="850000" y="2900000"/>
            <a:ext cx="3000000" cy="1400000"/>
          </a:xfrm>
          <a:prstGeom prst="roundRect">
            <a:avLst/>
          </a:prstGeom>
          <a:solidFill>
            <a:srgbClr val="121B2E"/>
          </a:solidFill>
          <a:ln w="10000">
            <a:solidFill>
              <a:srgbClr val="23304A"/>
            </a:solidFill>
          </a:ln>
        </p:spPr>
      </p:sp>
      <p:sp>
        <p:nvSpPr>
          <p:cNvPr id="337" name="Box 337"/>
          <p:cNvSpPr/>
          <p:nvPr/>
        </p:nvSpPr>
        <p:spPr>
          <a:xfrm>
            <a:off x="850000" y="2900000"/>
            <a:ext cx="85000" cy="1400000"/>
          </a:xfrm>
          <a:prstGeom prst="rect">
            <a:avLst/>
          </a:prstGeom>
          <a:solidFill>
            <a:srgbClr val="45D7E8"/>
          </a:solidFill>
          <a:ln w="10000">
            <a:solidFill>
              <a:srgbClr val="45D7E8"/>
            </a:solidFill>
          </a:ln>
        </p:spPr>
      </p:sp>
      <p:sp>
        <p:nvSpPr>
          <p:cNvPr id="338" name="Text 338"/>
          <p:cNvSpPr/>
          <p:nvPr/>
        </p:nvSpPr>
        <p:spPr>
          <a:xfrm>
            <a:off x="1030000" y="3040000"/>
            <a:ext cx="2700000" cy="2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45D7E8"/>
                </a:solidFill>
                <a:latin typeface="Aptos"/>
              </a:rPr>
              <a:t>CAPTURE</a:t>
            </a:r>
            <a:endParaRPr lang="en-US" sz="1000"/>
          </a:p>
        </p:txBody>
      </p:sp>
      <p:sp>
        <p:nvSpPr>
          <p:cNvPr id="339" name="Text 339"/>
          <p:cNvSpPr/>
          <p:nvPr/>
        </p:nvSpPr>
        <p:spPr>
          <a:xfrm>
            <a:off x="1030000" y="3330000"/>
            <a:ext cx="27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true">
                <a:solidFill>
                  <a:srgbClr val="F7FAFC"/>
                </a:solidFill>
                <a:latin typeface="Aptos"/>
              </a:rPr>
              <a:t>Terminal</a:t>
            </a:r>
            <a:endParaRPr lang="en-US" sz="1700"/>
          </a:p>
        </p:txBody>
      </p:sp>
      <p:sp>
        <p:nvSpPr>
          <p:cNvPr id="340" name="Text 340"/>
          <p:cNvSpPr/>
          <p:nvPr/>
        </p:nvSpPr>
        <p:spPr>
          <a:xfrm>
            <a:off x="1030000" y="3790000"/>
            <a:ext cx="27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600" b="false">
                <a:solidFill>
                  <a:srgbClr val="9DABC0"/>
                </a:solidFill>
                <a:latin typeface="Aptos"/>
              </a:rPr>
              <a:t>Pod status, replica count, replacement pod.</a:t>
            </a:r>
            <a:endParaRPr lang="en-US" sz="1600"/>
          </a:p>
        </p:txBody>
      </p:sp>
      <p:sp>
        <p:nvSpPr>
          <p:cNvPr id="341" name="Box 341"/>
          <p:cNvSpPr/>
          <p:nvPr/>
        </p:nvSpPr>
        <p:spPr>
          <a:xfrm>
            <a:off x="4100000" y="2900000"/>
            <a:ext cx="3000000" cy="1400000"/>
          </a:xfrm>
          <a:prstGeom prst="roundRect">
            <a:avLst/>
          </a:prstGeom>
          <a:solidFill>
            <a:srgbClr val="121B2E"/>
          </a:solidFill>
          <a:ln w="10000">
            <a:solidFill>
              <a:srgbClr val="23304A"/>
            </a:solidFill>
          </a:ln>
        </p:spPr>
      </p:sp>
      <p:sp>
        <p:nvSpPr>
          <p:cNvPr id="342" name="Box 342"/>
          <p:cNvSpPr/>
          <p:nvPr/>
        </p:nvSpPr>
        <p:spPr>
          <a:xfrm>
            <a:off x="4100000" y="2900000"/>
            <a:ext cx="85000" cy="1400000"/>
          </a:xfrm>
          <a:prstGeom prst="rect">
            <a:avLst/>
          </a:prstGeom>
          <a:solidFill>
            <a:srgbClr val="FF8A3D"/>
          </a:solidFill>
          <a:ln w="10000">
            <a:solidFill>
              <a:srgbClr val="FF8A3D"/>
            </a:solidFill>
          </a:ln>
        </p:spPr>
      </p:sp>
      <p:sp>
        <p:nvSpPr>
          <p:cNvPr id="343" name="Text 343"/>
          <p:cNvSpPr/>
          <p:nvPr/>
        </p:nvSpPr>
        <p:spPr>
          <a:xfrm>
            <a:off x="4280000" y="3040000"/>
            <a:ext cx="2700000" cy="2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FF8A3D"/>
                </a:solidFill>
                <a:latin typeface="Aptos"/>
              </a:rPr>
              <a:t>CAPTURE</a:t>
            </a:r>
            <a:endParaRPr lang="en-US" sz="1000"/>
          </a:p>
        </p:txBody>
      </p:sp>
      <p:sp>
        <p:nvSpPr>
          <p:cNvPr id="344" name="Text 344"/>
          <p:cNvSpPr/>
          <p:nvPr/>
        </p:nvSpPr>
        <p:spPr>
          <a:xfrm>
            <a:off x="4280000" y="3330000"/>
            <a:ext cx="27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true">
                <a:solidFill>
                  <a:srgbClr val="F7FAFC"/>
                </a:solidFill>
                <a:latin typeface="Aptos"/>
              </a:rPr>
              <a:t>Prometheus</a:t>
            </a:r>
            <a:endParaRPr lang="en-US" sz="1700"/>
          </a:p>
        </p:txBody>
      </p:sp>
      <p:sp>
        <p:nvSpPr>
          <p:cNvPr id="345" name="Text 345"/>
          <p:cNvSpPr/>
          <p:nvPr/>
        </p:nvSpPr>
        <p:spPr>
          <a:xfrm>
            <a:off x="4280000" y="3790000"/>
            <a:ext cx="27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600" b="false">
                <a:solidFill>
                  <a:srgbClr val="9DABC0"/>
                </a:solidFill>
                <a:latin typeface="Aptos"/>
              </a:rPr>
              <a:t>Target UP, query results, alert state.</a:t>
            </a:r>
            <a:endParaRPr lang="en-US" sz="1600"/>
          </a:p>
        </p:txBody>
      </p:sp>
      <p:sp>
        <p:nvSpPr>
          <p:cNvPr id="346" name="Box 346"/>
          <p:cNvSpPr/>
          <p:nvPr/>
        </p:nvSpPr>
        <p:spPr>
          <a:xfrm>
            <a:off x="7350000" y="2900000"/>
            <a:ext cx="3000000" cy="1400000"/>
          </a:xfrm>
          <a:prstGeom prst="roundRect">
            <a:avLst/>
          </a:prstGeom>
          <a:solidFill>
            <a:srgbClr val="121B2E"/>
          </a:solidFill>
          <a:ln w="10000">
            <a:solidFill>
              <a:srgbClr val="23304A"/>
            </a:solidFill>
          </a:ln>
        </p:spPr>
      </p:sp>
      <p:sp>
        <p:nvSpPr>
          <p:cNvPr id="347" name="Box 347"/>
          <p:cNvSpPr/>
          <p:nvPr/>
        </p:nvSpPr>
        <p:spPr>
          <a:xfrm>
            <a:off x="7350000" y="2900000"/>
            <a:ext cx="85000" cy="1400000"/>
          </a:xfrm>
          <a:prstGeom prst="rect">
            <a:avLst/>
          </a:prstGeom>
          <a:solidFill>
            <a:srgbClr val="65D69C"/>
          </a:solidFill>
          <a:ln w="10000">
            <a:solidFill>
              <a:srgbClr val="65D69C"/>
            </a:solidFill>
          </a:ln>
        </p:spPr>
      </p:sp>
      <p:sp>
        <p:nvSpPr>
          <p:cNvPr id="348" name="Text 348"/>
          <p:cNvSpPr/>
          <p:nvPr/>
        </p:nvSpPr>
        <p:spPr>
          <a:xfrm>
            <a:off x="7530000" y="3040000"/>
            <a:ext cx="2700000" cy="2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65D69C"/>
                </a:solidFill>
                <a:latin typeface="Aptos"/>
              </a:rPr>
              <a:t>CAPTURE</a:t>
            </a:r>
            <a:endParaRPr lang="en-US" sz="1000"/>
          </a:p>
        </p:txBody>
      </p:sp>
      <p:sp>
        <p:nvSpPr>
          <p:cNvPr id="349" name="Text 349"/>
          <p:cNvSpPr/>
          <p:nvPr/>
        </p:nvSpPr>
        <p:spPr>
          <a:xfrm>
            <a:off x="7530000" y="3330000"/>
            <a:ext cx="27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true">
                <a:solidFill>
                  <a:srgbClr val="F7FAFC"/>
                </a:solidFill>
                <a:latin typeface="Aptos"/>
              </a:rPr>
              <a:t>Grafana</a:t>
            </a:r>
            <a:endParaRPr lang="en-US" sz="1700"/>
          </a:p>
        </p:txBody>
      </p:sp>
      <p:sp>
        <p:nvSpPr>
          <p:cNvPr id="350" name="Text 350"/>
          <p:cNvSpPr/>
          <p:nvPr/>
        </p:nvSpPr>
        <p:spPr>
          <a:xfrm>
            <a:off x="7530000" y="3790000"/>
            <a:ext cx="27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600" b="false">
                <a:solidFill>
                  <a:srgbClr val="9DABC0"/>
                </a:solidFill>
                <a:latin typeface="Aptos"/>
              </a:rPr>
              <a:t>CPU, memory, request rate, 5xx graphs.</a:t>
            </a:r>
            <a:endParaRPr lang="en-US" sz="1600"/>
          </a:p>
        </p:txBody>
      </p:sp>
      <p:sp>
        <p:nvSpPr>
          <p:cNvPr id="351" name="Text 351"/>
          <p:cNvSpPr/>
          <p:nvPr/>
        </p:nvSpPr>
        <p:spPr>
          <a:xfrm>
            <a:off x="1400000" y="5250000"/>
            <a:ext cx="90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en-US" sz="1600" b="true">
                <a:solidFill>
                  <a:srgbClr val="9DABC0"/>
                </a:solidFill>
                <a:latin typeface="Aptos"/>
              </a:rPr>
              <a:t>Current deck status: design complete; live measurements pending Docker Desktop/Kubernetes startup.</a:t>
            </a:r>
            <a:endParaRPr lang="en-US" sz="1600"/>
          </a:p>
        </p:txBody>
      </p:sp>
      <p:sp>
        <p:nvSpPr>
          <p:cNvPr id="355" name="Text 355"/>
          <p:cNvSpPr/>
          <p:nvPr/>
        </p:nvSpPr>
        <p:spPr>
          <a:xfrm>
            <a:off x="650000" y="6570000"/>
            <a:ext cx="7000000" cy="1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900" b="true">
                <a:solidFill>
                  <a:srgbClr val="63758F"/>
                </a:solidFill>
                <a:latin typeface="Aptos"/>
              </a:rPr>
              <a:t>KUBERNETES WORKLOAD RELIABILITY  /  DEVOPS MINI-PROJECT</a:t>
            </a:r>
            <a:endParaRPr lang="en-US"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6" name="Box 37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020"/>
          </a:solidFill>
          <a:ln w="10000">
            <a:solidFill>
              <a:srgbClr val="0A1020"/>
            </a:solidFill>
          </a:ln>
        </p:spPr>
      </p:sp>
      <p:sp>
        <p:nvSpPr>
          <p:cNvPr id="377" name="Dot 377"/>
          <p:cNvSpPr/>
          <p:nvPr/>
        </p:nvSpPr>
        <p:spPr>
          <a:xfrm>
            <a:off x="11000000" y="500000"/>
            <a:ext cx="900000" cy="900000"/>
          </a:xfrm>
          <a:prstGeom prst="ellipse">
            <a:avLst/>
          </a:prstGeom>
          <a:solidFill>
            <a:srgbClr val="10263A"/>
          </a:solidFill>
          <a:ln>
            <a:noFill/>
          </a:ln>
        </p:spPr>
      </p:sp>
      <p:sp>
        <p:nvSpPr>
          <p:cNvPr id="378" name="Dot 378"/>
          <p:cNvSpPr/>
          <p:nvPr/>
        </p:nvSpPr>
        <p:spPr>
          <a:xfrm>
            <a:off x="11190000" y="690000"/>
            <a:ext cx="400000" cy="400000"/>
          </a:xfrm>
          <a:prstGeom prst="ellipse">
            <a:avLst/>
          </a:prstGeom>
          <a:solidFill>
            <a:srgbClr val="FF8A3D"/>
          </a:solidFill>
          <a:ln>
            <a:noFill/>
          </a:ln>
        </p:spPr>
      </p:sp>
      <p:sp>
        <p:nvSpPr>
          <p:cNvPr id="356" name="Text 356"/>
          <p:cNvSpPr/>
          <p:nvPr/>
        </p:nvSpPr>
        <p:spPr>
          <a:xfrm>
            <a:off x="650000" y="330000"/>
            <a:ext cx="30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FF8A3D"/>
                </a:solidFill>
                <a:latin typeface="Aptos"/>
              </a:rPr>
              <a:t>SCOPE</a:t>
            </a:r>
            <a:endParaRPr lang="en-US" sz="1000"/>
          </a:p>
        </p:txBody>
      </p:sp>
      <p:sp>
        <p:nvSpPr>
          <p:cNvPr id="357" name="Text 357"/>
          <p:cNvSpPr/>
          <p:nvPr/>
        </p:nvSpPr>
        <p:spPr>
          <a:xfrm>
            <a:off x="650000" y="650000"/>
            <a:ext cx="105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700" b="true">
                <a:solidFill>
                  <a:srgbClr val="F7FAFC"/>
                </a:solidFill>
                <a:latin typeface="Aptos"/>
              </a:rPr>
              <a:t>Boundaries and next steps</a:t>
            </a:r>
            <a:endParaRPr lang="en-US" sz="2700"/>
          </a:p>
        </p:txBody>
      </p:sp>
      <p:sp>
        <p:nvSpPr>
          <p:cNvPr id="358" name="Text 358"/>
          <p:cNvSpPr/>
          <p:nvPr/>
        </p:nvSpPr>
        <p:spPr>
          <a:xfrm>
            <a:off x="11300000" y="430000"/>
            <a:ext cx="4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1200" b="true">
                <a:solidFill>
                  <a:srgbClr val="9DABC0"/>
                </a:solidFill>
                <a:latin typeface="Aptos"/>
              </a:rPr>
              <a:t>14</a:t>
            </a:r>
            <a:endParaRPr lang="en-US" sz="1200"/>
          </a:p>
        </p:txBody>
      </p:sp>
      <p:sp>
        <p:nvSpPr>
          <p:cNvPr id="359" name="Box 359"/>
          <p:cNvSpPr/>
          <p:nvPr/>
        </p:nvSpPr>
        <p:spPr>
          <a:xfrm>
            <a:off x="650000" y="1400000"/>
            <a:ext cx="11000000" cy="18000"/>
          </a:xfrm>
          <a:prstGeom prst="rect">
            <a:avLst/>
          </a:prstGeom>
          <a:solidFill>
            <a:srgbClr val="23304A"/>
          </a:solidFill>
          <a:ln w="10000">
            <a:solidFill>
              <a:srgbClr val="23304A"/>
            </a:solidFill>
          </a:ln>
        </p:spPr>
      </p:sp>
      <p:sp>
        <p:nvSpPr>
          <p:cNvPr id="360" name="Box 360"/>
          <p:cNvSpPr/>
          <p:nvPr/>
        </p:nvSpPr>
        <p:spPr>
          <a:xfrm>
            <a:off x="850000" y="2000000"/>
            <a:ext cx="3000000" cy="1700000"/>
          </a:xfrm>
          <a:prstGeom prst="roundRect">
            <a:avLst/>
          </a:prstGeom>
          <a:solidFill>
            <a:srgbClr val="121B2E"/>
          </a:solidFill>
          <a:ln w="10000">
            <a:solidFill>
              <a:srgbClr val="23304A"/>
            </a:solidFill>
          </a:ln>
        </p:spPr>
      </p:sp>
      <p:sp>
        <p:nvSpPr>
          <p:cNvPr id="361" name="Box 361"/>
          <p:cNvSpPr/>
          <p:nvPr/>
        </p:nvSpPr>
        <p:spPr>
          <a:xfrm>
            <a:off x="850000" y="2000000"/>
            <a:ext cx="85000" cy="1700000"/>
          </a:xfrm>
          <a:prstGeom prst="rect">
            <a:avLst/>
          </a:prstGeom>
          <a:solidFill>
            <a:srgbClr val="FF8A3D"/>
          </a:solidFill>
          <a:ln w="10000">
            <a:solidFill>
              <a:srgbClr val="FF8A3D"/>
            </a:solidFill>
          </a:ln>
        </p:spPr>
      </p:sp>
      <p:sp>
        <p:nvSpPr>
          <p:cNvPr id="362" name="Text 362"/>
          <p:cNvSpPr/>
          <p:nvPr/>
        </p:nvSpPr>
        <p:spPr>
          <a:xfrm>
            <a:off x="1030000" y="2140000"/>
            <a:ext cx="2700000" cy="2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FF8A3D"/>
                </a:solidFill>
                <a:latin typeface="Aptos"/>
              </a:rPr>
              <a:t>LIMITATIONS</a:t>
            </a:r>
            <a:endParaRPr lang="en-US" sz="1000"/>
          </a:p>
        </p:txBody>
      </p:sp>
      <p:sp>
        <p:nvSpPr>
          <p:cNvPr id="363" name="Text 363"/>
          <p:cNvSpPr/>
          <p:nvPr/>
        </p:nvSpPr>
        <p:spPr>
          <a:xfrm>
            <a:off x="1030000" y="2430000"/>
            <a:ext cx="27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true">
                <a:solidFill>
                  <a:srgbClr val="F7FAFC"/>
                </a:solidFill>
                <a:latin typeface="Aptos"/>
              </a:rPr>
              <a:t>Today</a:t>
            </a:r>
            <a:endParaRPr lang="en-US" sz="1700"/>
          </a:p>
        </p:txBody>
      </p:sp>
      <p:sp>
        <p:nvSpPr>
          <p:cNvPr id="364" name="Text 364"/>
          <p:cNvSpPr/>
          <p:nvPr/>
        </p:nvSpPr>
        <p:spPr>
          <a:xfrm>
            <a:off x="1030000" y="2890000"/>
            <a:ext cx="27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false">
                <a:solidFill>
                  <a:srgbClr val="9DABC0"/>
                </a:solidFill>
                <a:latin typeface="Aptos"/>
              </a:rPr>
              <a:t>Local, single-node cluster</a:t>
            </a:r>
            <a:endParaRPr lang="en-US" sz="1700"/>
          </a:p>
          <a:p>
            <a:pPr algn="l"/>
            <a:r>
              <a:rPr lang="en-US" sz="1700" b="false">
                <a:solidFill>
                  <a:srgbClr val="9DABC0"/>
                </a:solidFill>
                <a:latin typeface="Aptos"/>
              </a:rPr>
              <a:t>Synthetic workload</a:t>
            </a:r>
            <a:endParaRPr lang="en-US" sz="1700"/>
          </a:p>
          <a:p>
            <a:pPr algn="l"/>
            <a:r>
              <a:rPr lang="en-US" sz="1700" b="false">
                <a:solidFill>
                  <a:srgbClr val="9DABC0"/>
                </a:solidFill>
                <a:latin typeface="Aptos"/>
              </a:rPr>
              <a:t>Manual experiments</a:t>
            </a:r>
            <a:endParaRPr lang="en-US" sz="1700"/>
          </a:p>
        </p:txBody>
      </p:sp>
      <p:sp>
        <p:nvSpPr>
          <p:cNvPr id="365" name="Box 365"/>
          <p:cNvSpPr/>
          <p:nvPr/>
        </p:nvSpPr>
        <p:spPr>
          <a:xfrm>
            <a:off x="4100000" y="2000000"/>
            <a:ext cx="3000000" cy="1700000"/>
          </a:xfrm>
          <a:prstGeom prst="roundRect">
            <a:avLst/>
          </a:prstGeom>
          <a:solidFill>
            <a:srgbClr val="121B2E"/>
          </a:solidFill>
          <a:ln w="10000">
            <a:solidFill>
              <a:srgbClr val="23304A"/>
            </a:solidFill>
          </a:ln>
        </p:spPr>
      </p:sp>
      <p:sp>
        <p:nvSpPr>
          <p:cNvPr id="366" name="Box 366"/>
          <p:cNvSpPr/>
          <p:nvPr/>
        </p:nvSpPr>
        <p:spPr>
          <a:xfrm>
            <a:off x="4100000" y="2000000"/>
            <a:ext cx="85000" cy="1700000"/>
          </a:xfrm>
          <a:prstGeom prst="rect">
            <a:avLst/>
          </a:prstGeom>
          <a:solidFill>
            <a:srgbClr val="45D7E8"/>
          </a:solidFill>
          <a:ln w="10000">
            <a:solidFill>
              <a:srgbClr val="45D7E8"/>
            </a:solidFill>
          </a:ln>
        </p:spPr>
      </p:sp>
      <p:sp>
        <p:nvSpPr>
          <p:cNvPr id="367" name="Text 367"/>
          <p:cNvSpPr/>
          <p:nvPr/>
        </p:nvSpPr>
        <p:spPr>
          <a:xfrm>
            <a:off x="4280000" y="2140000"/>
            <a:ext cx="2700000" cy="2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45D7E8"/>
                </a:solidFill>
                <a:latin typeface="Aptos"/>
              </a:rPr>
              <a:t>FUTURE</a:t>
            </a:r>
            <a:endParaRPr lang="en-US" sz="1000"/>
          </a:p>
        </p:txBody>
      </p:sp>
      <p:sp>
        <p:nvSpPr>
          <p:cNvPr id="368" name="Text 368"/>
          <p:cNvSpPr/>
          <p:nvPr/>
        </p:nvSpPr>
        <p:spPr>
          <a:xfrm>
            <a:off x="4280000" y="2430000"/>
            <a:ext cx="27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true">
                <a:solidFill>
                  <a:srgbClr val="F7FAFC"/>
                </a:solidFill>
                <a:latin typeface="Aptos"/>
              </a:rPr>
              <a:t>Next</a:t>
            </a:r>
            <a:endParaRPr lang="en-US" sz="1700"/>
          </a:p>
        </p:txBody>
      </p:sp>
      <p:sp>
        <p:nvSpPr>
          <p:cNvPr id="369" name="Text 369"/>
          <p:cNvSpPr/>
          <p:nvPr/>
        </p:nvSpPr>
        <p:spPr>
          <a:xfrm>
            <a:off x="4280000" y="2890000"/>
            <a:ext cx="27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false">
                <a:solidFill>
                  <a:srgbClr val="9DABC0"/>
                </a:solidFill>
                <a:latin typeface="Aptos"/>
              </a:rPr>
              <a:t>Alertmanager receivers</a:t>
            </a:r>
            <a:endParaRPr lang="en-US" sz="1700"/>
          </a:p>
          <a:p>
            <a:pPr algn="l"/>
            <a:r>
              <a:rPr lang="en-US" sz="1700" b="false">
                <a:solidFill>
                  <a:srgbClr val="9DABC0"/>
                </a:solidFill>
                <a:latin typeface="Aptos"/>
              </a:rPr>
              <a:t>SLO / latency panels</a:t>
            </a:r>
            <a:endParaRPr lang="en-US" sz="1700"/>
          </a:p>
          <a:p>
            <a:pPr algn="l"/>
            <a:r>
              <a:rPr lang="en-US" sz="1700" b="false">
                <a:solidFill>
                  <a:srgbClr val="9DABC0"/>
                </a:solidFill>
                <a:latin typeface="Aptos"/>
              </a:rPr>
              <a:t>Load testing</a:t>
            </a:r>
            <a:endParaRPr lang="en-US" sz="1700"/>
          </a:p>
        </p:txBody>
      </p:sp>
      <p:sp>
        <p:nvSpPr>
          <p:cNvPr id="370" name="Box 370"/>
          <p:cNvSpPr/>
          <p:nvPr/>
        </p:nvSpPr>
        <p:spPr>
          <a:xfrm>
            <a:off x="7350000" y="2000000"/>
            <a:ext cx="3000000" cy="1700000"/>
          </a:xfrm>
          <a:prstGeom prst="roundRect">
            <a:avLst/>
          </a:prstGeom>
          <a:solidFill>
            <a:srgbClr val="121B2E"/>
          </a:solidFill>
          <a:ln w="10000">
            <a:solidFill>
              <a:srgbClr val="23304A"/>
            </a:solidFill>
          </a:ln>
        </p:spPr>
      </p:sp>
      <p:sp>
        <p:nvSpPr>
          <p:cNvPr id="371" name="Box 371"/>
          <p:cNvSpPr/>
          <p:nvPr/>
        </p:nvSpPr>
        <p:spPr>
          <a:xfrm>
            <a:off x="7350000" y="2000000"/>
            <a:ext cx="85000" cy="1700000"/>
          </a:xfrm>
          <a:prstGeom prst="rect">
            <a:avLst/>
          </a:prstGeom>
          <a:solidFill>
            <a:srgbClr val="65D69C"/>
          </a:solidFill>
          <a:ln w="10000">
            <a:solidFill>
              <a:srgbClr val="65D69C"/>
            </a:solidFill>
          </a:ln>
        </p:spPr>
      </p:sp>
      <p:sp>
        <p:nvSpPr>
          <p:cNvPr id="372" name="Text 372"/>
          <p:cNvSpPr/>
          <p:nvPr/>
        </p:nvSpPr>
        <p:spPr>
          <a:xfrm>
            <a:off x="7530000" y="2140000"/>
            <a:ext cx="2700000" cy="2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65D69C"/>
                </a:solidFill>
                <a:latin typeface="Aptos"/>
              </a:rPr>
              <a:t>FUTURE</a:t>
            </a:r>
            <a:endParaRPr lang="en-US" sz="1000"/>
          </a:p>
        </p:txBody>
      </p:sp>
      <p:sp>
        <p:nvSpPr>
          <p:cNvPr id="373" name="Text 373"/>
          <p:cNvSpPr/>
          <p:nvPr/>
        </p:nvSpPr>
        <p:spPr>
          <a:xfrm>
            <a:off x="7530000" y="2430000"/>
            <a:ext cx="27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true">
                <a:solidFill>
                  <a:srgbClr val="F7FAFC"/>
                </a:solidFill>
                <a:latin typeface="Aptos"/>
              </a:rPr>
              <a:t>Scale</a:t>
            </a:r>
            <a:endParaRPr lang="en-US" sz="1700"/>
          </a:p>
        </p:txBody>
      </p:sp>
      <p:sp>
        <p:nvSpPr>
          <p:cNvPr id="374" name="Text 374"/>
          <p:cNvSpPr/>
          <p:nvPr/>
        </p:nvSpPr>
        <p:spPr>
          <a:xfrm>
            <a:off x="7530000" y="2890000"/>
            <a:ext cx="27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false">
                <a:solidFill>
                  <a:srgbClr val="9DABC0"/>
                </a:solidFill>
                <a:latin typeface="Aptos"/>
              </a:rPr>
              <a:t>Multi-node monitoring</a:t>
            </a:r>
            <a:endParaRPr lang="en-US" sz="1700"/>
          </a:p>
          <a:p>
            <a:pPr algn="l"/>
            <a:r>
              <a:rPr lang="en-US" sz="1700" b="false">
                <a:solidFill>
                  <a:srgbClr val="9DABC0"/>
                </a:solidFill>
                <a:latin typeface="Aptos"/>
              </a:rPr>
              <a:t>Persistent storage</a:t>
            </a:r>
            <a:endParaRPr lang="en-US" sz="1700"/>
          </a:p>
          <a:p>
            <a:pPr algn="l"/>
            <a:r>
              <a:rPr lang="en-US" sz="1700" b="false">
                <a:solidFill>
                  <a:srgbClr val="9DABC0"/>
                </a:solidFill>
                <a:latin typeface="Aptos"/>
              </a:rPr>
              <a:t>CI/CD integration</a:t>
            </a:r>
            <a:endParaRPr lang="en-US" sz="1700"/>
          </a:p>
        </p:txBody>
      </p:sp>
      <p:sp>
        <p:nvSpPr>
          <p:cNvPr id="375" name="Text 375"/>
          <p:cNvSpPr/>
          <p:nvPr/>
        </p:nvSpPr>
        <p:spPr>
          <a:xfrm>
            <a:off x="1500000" y="5200000"/>
            <a:ext cx="8500000" cy="4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en-US" sz="1900" b="true">
                <a:solidFill>
                  <a:srgbClr val="F7FAFC"/>
                </a:solidFill>
                <a:latin typeface="Aptos"/>
              </a:rPr>
              <a:t>A good mini-project is honest about what it measures and what it still needs to prove.</a:t>
            </a:r>
            <a:endParaRPr lang="en-US" sz="1900"/>
          </a:p>
        </p:txBody>
      </p:sp>
      <p:sp>
        <p:nvSpPr>
          <p:cNvPr id="379" name="Text 379"/>
          <p:cNvSpPr/>
          <p:nvPr/>
        </p:nvSpPr>
        <p:spPr>
          <a:xfrm>
            <a:off x="650000" y="6570000"/>
            <a:ext cx="7000000" cy="1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900" b="true">
                <a:solidFill>
                  <a:srgbClr val="63758F"/>
                </a:solidFill>
                <a:latin typeface="Aptos"/>
              </a:rPr>
              <a:t>KUBERNETES WORKLOAD RELIABILITY  /  DEVOPS MINI-PROJECT</a:t>
            </a:r>
            <a:endParaRPr lang="en-US"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1" name="Box 40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020"/>
          </a:solidFill>
          <a:ln w="10000">
            <a:solidFill>
              <a:srgbClr val="0A1020"/>
            </a:solidFill>
          </a:ln>
        </p:spPr>
      </p:sp>
      <p:sp>
        <p:nvSpPr>
          <p:cNvPr id="402" name="Dot 402"/>
          <p:cNvSpPr/>
          <p:nvPr/>
        </p:nvSpPr>
        <p:spPr>
          <a:xfrm>
            <a:off x="11000000" y="500000"/>
            <a:ext cx="900000" cy="900000"/>
          </a:xfrm>
          <a:prstGeom prst="ellipse">
            <a:avLst/>
          </a:prstGeom>
          <a:solidFill>
            <a:srgbClr val="10263A"/>
          </a:solidFill>
          <a:ln>
            <a:noFill/>
          </a:ln>
        </p:spPr>
      </p:sp>
      <p:sp>
        <p:nvSpPr>
          <p:cNvPr id="403" name="Dot 403"/>
          <p:cNvSpPr/>
          <p:nvPr/>
        </p:nvSpPr>
        <p:spPr>
          <a:xfrm>
            <a:off x="11190000" y="690000"/>
            <a:ext cx="400000" cy="400000"/>
          </a:xfrm>
          <a:prstGeom prst="ellipse">
            <a:avLst/>
          </a:prstGeom>
          <a:solidFill>
            <a:srgbClr val="FF8A3D"/>
          </a:solidFill>
          <a:ln>
            <a:noFill/>
          </a:ln>
        </p:spPr>
      </p:sp>
      <p:sp>
        <p:nvSpPr>
          <p:cNvPr id="380" name="Text 380"/>
          <p:cNvSpPr/>
          <p:nvPr/>
        </p:nvSpPr>
        <p:spPr>
          <a:xfrm>
            <a:off x="650000" y="330000"/>
            <a:ext cx="30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FF8A3D"/>
                </a:solidFill>
                <a:latin typeface="Aptos"/>
              </a:rPr>
              <a:t>CONCLUSION</a:t>
            </a:r>
            <a:endParaRPr lang="en-US" sz="1000"/>
          </a:p>
        </p:txBody>
      </p:sp>
      <p:sp>
        <p:nvSpPr>
          <p:cNvPr id="381" name="Text 381"/>
          <p:cNvSpPr/>
          <p:nvPr/>
        </p:nvSpPr>
        <p:spPr>
          <a:xfrm>
            <a:off x="650000" y="650000"/>
            <a:ext cx="105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700" b="true">
                <a:solidFill>
                  <a:srgbClr val="F7FAFC"/>
                </a:solidFill>
                <a:latin typeface="Aptos"/>
              </a:rPr>
              <a:t>The takeaway</a:t>
            </a:r>
            <a:endParaRPr lang="en-US" sz="2700"/>
          </a:p>
        </p:txBody>
      </p:sp>
      <p:sp>
        <p:nvSpPr>
          <p:cNvPr id="382" name="Text 382"/>
          <p:cNvSpPr/>
          <p:nvPr/>
        </p:nvSpPr>
        <p:spPr>
          <a:xfrm>
            <a:off x="11300000" y="430000"/>
            <a:ext cx="4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1200" b="true">
                <a:solidFill>
                  <a:srgbClr val="9DABC0"/>
                </a:solidFill>
                <a:latin typeface="Aptos"/>
              </a:rPr>
              <a:t>15</a:t>
            </a:r>
            <a:endParaRPr lang="en-US" sz="1200"/>
          </a:p>
        </p:txBody>
      </p:sp>
      <p:sp>
        <p:nvSpPr>
          <p:cNvPr id="383" name="Box 383"/>
          <p:cNvSpPr/>
          <p:nvPr/>
        </p:nvSpPr>
        <p:spPr>
          <a:xfrm>
            <a:off x="650000" y="1400000"/>
            <a:ext cx="11000000" cy="18000"/>
          </a:xfrm>
          <a:prstGeom prst="rect">
            <a:avLst/>
          </a:prstGeom>
          <a:solidFill>
            <a:srgbClr val="23304A"/>
          </a:solidFill>
          <a:ln w="10000">
            <a:solidFill>
              <a:srgbClr val="23304A"/>
            </a:solidFill>
          </a:ln>
        </p:spPr>
      </p:sp>
      <p:sp>
        <p:nvSpPr>
          <p:cNvPr id="384" name="Text 384"/>
          <p:cNvSpPr/>
          <p:nvPr/>
        </p:nvSpPr>
        <p:spPr>
          <a:xfrm>
            <a:off x="850000" y="1800000"/>
            <a:ext cx="9500000" cy="5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400" b="true">
                <a:solidFill>
                  <a:srgbClr val="F7FAFC"/>
                </a:solidFill>
                <a:latin typeface="Aptos"/>
              </a:rPr>
              <a:t>Reliability is a conversation between workload, signals, and control plane.</a:t>
            </a:r>
            <a:endParaRPr lang="en-US" sz="2400"/>
          </a:p>
        </p:txBody>
      </p:sp>
      <p:sp>
        <p:nvSpPr>
          <p:cNvPr id="385" name="Box 385"/>
          <p:cNvSpPr/>
          <p:nvPr/>
        </p:nvSpPr>
        <p:spPr>
          <a:xfrm>
            <a:off x="850000" y="3300000"/>
            <a:ext cx="3000000" cy="1300000"/>
          </a:xfrm>
          <a:prstGeom prst="roundRect">
            <a:avLst/>
          </a:prstGeom>
          <a:solidFill>
            <a:srgbClr val="121B2E"/>
          </a:solidFill>
          <a:ln w="10000">
            <a:solidFill>
              <a:srgbClr val="23304A"/>
            </a:solidFill>
          </a:ln>
        </p:spPr>
      </p:sp>
      <p:sp>
        <p:nvSpPr>
          <p:cNvPr id="386" name="Box 386"/>
          <p:cNvSpPr/>
          <p:nvPr/>
        </p:nvSpPr>
        <p:spPr>
          <a:xfrm>
            <a:off x="850000" y="3300000"/>
            <a:ext cx="85000" cy="1300000"/>
          </a:xfrm>
          <a:prstGeom prst="rect">
            <a:avLst/>
          </a:prstGeom>
          <a:solidFill>
            <a:srgbClr val="FF8A3D"/>
          </a:solidFill>
          <a:ln w="10000">
            <a:solidFill>
              <a:srgbClr val="FF8A3D"/>
            </a:solidFill>
          </a:ln>
        </p:spPr>
      </p:sp>
      <p:sp>
        <p:nvSpPr>
          <p:cNvPr id="387" name="Text 387"/>
          <p:cNvSpPr/>
          <p:nvPr/>
        </p:nvSpPr>
        <p:spPr>
          <a:xfrm>
            <a:off x="1030000" y="3440000"/>
            <a:ext cx="2700000" cy="2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FF8A3D"/>
                </a:solidFill>
                <a:latin typeface="Aptos"/>
              </a:rPr>
              <a:t>OBSERVE</a:t>
            </a:r>
            <a:endParaRPr lang="en-US" sz="1000"/>
          </a:p>
        </p:txBody>
      </p:sp>
      <p:sp>
        <p:nvSpPr>
          <p:cNvPr id="388" name="Text 388"/>
          <p:cNvSpPr/>
          <p:nvPr/>
        </p:nvSpPr>
        <p:spPr>
          <a:xfrm>
            <a:off x="1030000" y="3730000"/>
            <a:ext cx="27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true">
                <a:solidFill>
                  <a:srgbClr val="F7FAFC"/>
                </a:solidFill>
                <a:latin typeface="Aptos"/>
              </a:rPr>
              <a:t>Prometheus</a:t>
            </a:r>
            <a:endParaRPr lang="en-US" sz="1700"/>
          </a:p>
        </p:txBody>
      </p:sp>
      <p:sp>
        <p:nvSpPr>
          <p:cNvPr id="389" name="Text 389"/>
          <p:cNvSpPr/>
          <p:nvPr/>
        </p:nvSpPr>
        <p:spPr>
          <a:xfrm>
            <a:off x="1030000" y="4190000"/>
            <a:ext cx="27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false">
                <a:solidFill>
                  <a:srgbClr val="9DABC0"/>
                </a:solidFill>
                <a:latin typeface="Aptos"/>
              </a:rPr>
              <a:t>Collects and evaluates time series.</a:t>
            </a:r>
            <a:endParaRPr lang="en-US" sz="1700"/>
          </a:p>
        </p:txBody>
      </p:sp>
      <p:sp>
        <p:nvSpPr>
          <p:cNvPr id="390" name="Box 390"/>
          <p:cNvSpPr/>
          <p:nvPr/>
        </p:nvSpPr>
        <p:spPr>
          <a:xfrm>
            <a:off x="4100000" y="3300000"/>
            <a:ext cx="3000000" cy="1300000"/>
          </a:xfrm>
          <a:prstGeom prst="roundRect">
            <a:avLst/>
          </a:prstGeom>
          <a:solidFill>
            <a:srgbClr val="121B2E"/>
          </a:solidFill>
          <a:ln w="10000">
            <a:solidFill>
              <a:srgbClr val="23304A"/>
            </a:solidFill>
          </a:ln>
        </p:spPr>
      </p:sp>
      <p:sp>
        <p:nvSpPr>
          <p:cNvPr id="391" name="Box 391"/>
          <p:cNvSpPr/>
          <p:nvPr/>
        </p:nvSpPr>
        <p:spPr>
          <a:xfrm>
            <a:off x="4100000" y="3300000"/>
            <a:ext cx="85000" cy="1300000"/>
          </a:xfrm>
          <a:prstGeom prst="rect">
            <a:avLst/>
          </a:prstGeom>
          <a:solidFill>
            <a:srgbClr val="45D7E8"/>
          </a:solidFill>
          <a:ln w="10000">
            <a:solidFill>
              <a:srgbClr val="45D7E8"/>
            </a:solidFill>
          </a:ln>
        </p:spPr>
      </p:sp>
      <p:sp>
        <p:nvSpPr>
          <p:cNvPr id="392" name="Text 392"/>
          <p:cNvSpPr/>
          <p:nvPr/>
        </p:nvSpPr>
        <p:spPr>
          <a:xfrm>
            <a:off x="4280000" y="3440000"/>
            <a:ext cx="2700000" cy="2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45D7E8"/>
                </a:solidFill>
                <a:latin typeface="Aptos"/>
              </a:rPr>
              <a:t>EXPLAIN</a:t>
            </a:r>
            <a:endParaRPr lang="en-US" sz="1000"/>
          </a:p>
        </p:txBody>
      </p:sp>
      <p:sp>
        <p:nvSpPr>
          <p:cNvPr id="393" name="Text 393"/>
          <p:cNvSpPr/>
          <p:nvPr/>
        </p:nvSpPr>
        <p:spPr>
          <a:xfrm>
            <a:off x="4280000" y="3730000"/>
            <a:ext cx="27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true">
                <a:solidFill>
                  <a:srgbClr val="F7FAFC"/>
                </a:solidFill>
                <a:latin typeface="Aptos"/>
              </a:rPr>
              <a:t>Grafana</a:t>
            </a:r>
            <a:endParaRPr lang="en-US" sz="1700"/>
          </a:p>
        </p:txBody>
      </p:sp>
      <p:sp>
        <p:nvSpPr>
          <p:cNvPr id="394" name="Text 394"/>
          <p:cNvSpPr/>
          <p:nvPr/>
        </p:nvSpPr>
        <p:spPr>
          <a:xfrm>
            <a:off x="4280000" y="4190000"/>
            <a:ext cx="27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false">
                <a:solidFill>
                  <a:srgbClr val="9DABC0"/>
                </a:solidFill>
                <a:latin typeface="Aptos"/>
              </a:rPr>
              <a:t>Makes behavior legible to people.</a:t>
            </a:r>
            <a:endParaRPr lang="en-US" sz="1700"/>
          </a:p>
        </p:txBody>
      </p:sp>
      <p:sp>
        <p:nvSpPr>
          <p:cNvPr id="395" name="Box 395"/>
          <p:cNvSpPr/>
          <p:nvPr/>
        </p:nvSpPr>
        <p:spPr>
          <a:xfrm>
            <a:off x="7350000" y="3300000"/>
            <a:ext cx="3000000" cy="1300000"/>
          </a:xfrm>
          <a:prstGeom prst="roundRect">
            <a:avLst/>
          </a:prstGeom>
          <a:solidFill>
            <a:srgbClr val="121B2E"/>
          </a:solidFill>
          <a:ln w="10000">
            <a:solidFill>
              <a:srgbClr val="23304A"/>
            </a:solidFill>
          </a:ln>
        </p:spPr>
      </p:sp>
      <p:sp>
        <p:nvSpPr>
          <p:cNvPr id="396" name="Box 396"/>
          <p:cNvSpPr/>
          <p:nvPr/>
        </p:nvSpPr>
        <p:spPr>
          <a:xfrm>
            <a:off x="7350000" y="3300000"/>
            <a:ext cx="85000" cy="1300000"/>
          </a:xfrm>
          <a:prstGeom prst="rect">
            <a:avLst/>
          </a:prstGeom>
          <a:solidFill>
            <a:srgbClr val="65D69C"/>
          </a:solidFill>
          <a:ln w="10000">
            <a:solidFill>
              <a:srgbClr val="65D69C"/>
            </a:solidFill>
          </a:ln>
        </p:spPr>
      </p:sp>
      <p:sp>
        <p:nvSpPr>
          <p:cNvPr id="397" name="Text 397"/>
          <p:cNvSpPr/>
          <p:nvPr/>
        </p:nvSpPr>
        <p:spPr>
          <a:xfrm>
            <a:off x="7530000" y="3440000"/>
            <a:ext cx="2700000" cy="21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65D69C"/>
                </a:solidFill>
                <a:latin typeface="Aptos"/>
              </a:rPr>
              <a:t>RECOVER</a:t>
            </a:r>
            <a:endParaRPr lang="en-US" sz="1000"/>
          </a:p>
        </p:txBody>
      </p:sp>
      <p:sp>
        <p:nvSpPr>
          <p:cNvPr id="398" name="Text 398"/>
          <p:cNvSpPr/>
          <p:nvPr/>
        </p:nvSpPr>
        <p:spPr>
          <a:xfrm>
            <a:off x="7530000" y="3730000"/>
            <a:ext cx="27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true">
                <a:solidFill>
                  <a:srgbClr val="F7FAFC"/>
                </a:solidFill>
                <a:latin typeface="Aptos"/>
              </a:rPr>
              <a:t>Kubernetes</a:t>
            </a:r>
            <a:endParaRPr lang="en-US" sz="1700"/>
          </a:p>
        </p:txBody>
      </p:sp>
      <p:sp>
        <p:nvSpPr>
          <p:cNvPr id="399" name="Text 399"/>
          <p:cNvSpPr/>
          <p:nvPr/>
        </p:nvSpPr>
        <p:spPr>
          <a:xfrm>
            <a:off x="7530000" y="4190000"/>
            <a:ext cx="27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false">
                <a:solidFill>
                  <a:srgbClr val="9DABC0"/>
                </a:solidFill>
                <a:latin typeface="Aptos"/>
              </a:rPr>
              <a:t>Reconciles desired workload state.</a:t>
            </a:r>
            <a:endParaRPr lang="en-US" sz="1700"/>
          </a:p>
        </p:txBody>
      </p:sp>
      <p:sp>
        <p:nvSpPr>
          <p:cNvPr id="400" name="Text 400"/>
          <p:cNvSpPr/>
          <p:nvPr/>
        </p:nvSpPr>
        <p:spPr>
          <a:xfrm>
            <a:off x="2200000" y="5350000"/>
            <a:ext cx="75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en-US" sz="2000" b="true">
                <a:solidFill>
                  <a:srgbClr val="FF8A3D"/>
                </a:solidFill>
                <a:latin typeface="Aptos"/>
              </a:rPr>
              <a:t>Deploy  →  Monitor  →  Simulate  →  Detect  →  Recover</a:t>
            </a:r>
            <a:endParaRPr lang="en-US" sz="2000"/>
          </a:p>
        </p:txBody>
      </p:sp>
      <p:sp>
        <p:nvSpPr>
          <p:cNvPr id="404" name="Text 404"/>
          <p:cNvSpPr/>
          <p:nvPr/>
        </p:nvSpPr>
        <p:spPr>
          <a:xfrm>
            <a:off x="650000" y="6570000"/>
            <a:ext cx="7000000" cy="1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900" b="true">
                <a:solidFill>
                  <a:srgbClr val="63758F"/>
                </a:solidFill>
                <a:latin typeface="Aptos"/>
              </a:rPr>
              <a:t>KUBERNETES WORKLOAD RELIABILITY  /  DEVOPS MINI-PROJECT</a:t>
            </a:r>
            <a:endParaRPr lang="en-US" sz="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1" name="Box 4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020"/>
          </a:solidFill>
          <a:ln w="10000">
            <a:solidFill>
              <a:srgbClr val="0A1020"/>
            </a:solidFill>
          </a:ln>
        </p:spPr>
      </p:sp>
      <p:sp>
        <p:nvSpPr>
          <p:cNvPr id="412" name="Dot 412"/>
          <p:cNvSpPr/>
          <p:nvPr/>
        </p:nvSpPr>
        <p:spPr>
          <a:xfrm>
            <a:off x="11000000" y="500000"/>
            <a:ext cx="900000" cy="900000"/>
          </a:xfrm>
          <a:prstGeom prst="ellipse">
            <a:avLst/>
          </a:prstGeom>
          <a:solidFill>
            <a:srgbClr val="10263A"/>
          </a:solidFill>
          <a:ln>
            <a:noFill/>
          </a:ln>
        </p:spPr>
      </p:sp>
      <p:sp>
        <p:nvSpPr>
          <p:cNvPr id="413" name="Dot 413"/>
          <p:cNvSpPr/>
          <p:nvPr/>
        </p:nvSpPr>
        <p:spPr>
          <a:xfrm>
            <a:off x="11190000" y="690000"/>
            <a:ext cx="400000" cy="400000"/>
          </a:xfrm>
          <a:prstGeom prst="ellipse">
            <a:avLst/>
          </a:prstGeom>
          <a:solidFill>
            <a:srgbClr val="FF8A3D"/>
          </a:solidFill>
          <a:ln>
            <a:noFill/>
          </a:ln>
        </p:spPr>
      </p:sp>
      <p:sp>
        <p:nvSpPr>
          <p:cNvPr id="405" name="Text 405"/>
          <p:cNvSpPr/>
          <p:nvPr/>
        </p:nvSpPr>
        <p:spPr>
          <a:xfrm>
            <a:off x="650000" y="330000"/>
            <a:ext cx="30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true">
                <a:solidFill>
                  <a:srgbClr val="FF8A3D"/>
                </a:solidFill>
                <a:latin typeface="Aptos"/>
              </a:rPr>
              <a:t>APPENDIX</a:t>
            </a:r>
            <a:endParaRPr lang="en-US" sz="1000"/>
          </a:p>
        </p:txBody>
      </p:sp>
      <p:sp>
        <p:nvSpPr>
          <p:cNvPr id="406" name="Text 406"/>
          <p:cNvSpPr/>
          <p:nvPr/>
        </p:nvSpPr>
        <p:spPr>
          <a:xfrm>
            <a:off x="650000" y="650000"/>
            <a:ext cx="105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700" b="true">
                <a:solidFill>
                  <a:srgbClr val="F7FAFC"/>
                </a:solidFill>
                <a:latin typeface="Aptos"/>
              </a:rPr>
              <a:t>References</a:t>
            </a:r>
            <a:endParaRPr lang="en-US" sz="2700"/>
          </a:p>
        </p:txBody>
      </p:sp>
      <p:sp>
        <p:nvSpPr>
          <p:cNvPr id="407" name="Text 407"/>
          <p:cNvSpPr/>
          <p:nvPr/>
        </p:nvSpPr>
        <p:spPr>
          <a:xfrm>
            <a:off x="11300000" y="430000"/>
            <a:ext cx="4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1200" b="true">
                <a:solidFill>
                  <a:srgbClr val="9DABC0"/>
                </a:solidFill>
                <a:latin typeface="Aptos"/>
              </a:rPr>
              <a:t>16</a:t>
            </a:r>
            <a:endParaRPr lang="en-US" sz="1200"/>
          </a:p>
        </p:txBody>
      </p:sp>
      <p:sp>
        <p:nvSpPr>
          <p:cNvPr id="408" name="Box 408"/>
          <p:cNvSpPr/>
          <p:nvPr/>
        </p:nvSpPr>
        <p:spPr>
          <a:xfrm>
            <a:off x="650000" y="1400000"/>
            <a:ext cx="11000000" cy="18000"/>
          </a:xfrm>
          <a:prstGeom prst="rect">
            <a:avLst/>
          </a:prstGeom>
          <a:solidFill>
            <a:srgbClr val="23304A"/>
          </a:solidFill>
          <a:ln w="10000">
            <a:solidFill>
              <a:srgbClr val="23304A"/>
            </a:solidFill>
          </a:ln>
        </p:spPr>
      </p:sp>
      <p:sp>
        <p:nvSpPr>
          <p:cNvPr id="409" name="Text 409"/>
          <p:cNvSpPr/>
          <p:nvPr/>
        </p:nvSpPr>
        <p:spPr>
          <a:xfrm>
            <a:off x="1100000" y="1900000"/>
            <a:ext cx="3300000" cy="3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false">
                <a:solidFill>
                  <a:srgbClr val="F7FAFC"/>
                </a:solidFill>
                <a:latin typeface="Aptos"/>
              </a:rPr>
              <a:t>Kubernetes</a:t>
            </a:r>
            <a:endParaRPr lang="en-US" sz="1700"/>
          </a:p>
          <a:p>
            <a:pPr algn="l"/>
            <a:r>
              <a:rPr lang="en-US" sz="1700" b="false">
                <a:solidFill>
                  <a:srgbClr val="F7FAFC"/>
                </a:solidFill>
                <a:latin typeface="Aptos"/>
              </a:rPr>
              <a:t>kubernetes.io/docs</a:t>
            </a:r>
            <a:endParaRPr lang="en-US" sz="1700"/>
          </a:p>
          <a:p>
            <a:pPr algn="l"/>
            <a:r>
              <a:rPr lang="en-US" sz="1700" b="false">
                <a:solidFill>
                  <a:srgbClr val="F7FAFC"/>
                </a:solidFill>
                <a:latin typeface="Aptos"/>
              </a:rPr>
              <a:t/>
            </a:r>
            <a:endParaRPr lang="en-US" sz="1700"/>
          </a:p>
          <a:p>
            <a:pPr algn="l"/>
            <a:r>
              <a:rPr lang="en-US" sz="1700" b="false">
                <a:solidFill>
                  <a:srgbClr val="F7FAFC"/>
                </a:solidFill>
                <a:latin typeface="Aptos"/>
              </a:rPr>
              <a:t>Prometheus</a:t>
            </a:r>
            <a:endParaRPr lang="en-US" sz="1700"/>
          </a:p>
          <a:p>
            <a:pPr algn="l"/>
            <a:r>
              <a:rPr lang="en-US" sz="1700" b="false">
                <a:solidFill>
                  <a:srgbClr val="F7FAFC"/>
                </a:solidFill>
                <a:latin typeface="Aptos"/>
              </a:rPr>
              <a:t>prometheus.io/docs</a:t>
            </a:r>
            <a:endParaRPr lang="en-US" sz="1700"/>
          </a:p>
          <a:p>
            <a:pPr algn="l"/>
            <a:r>
              <a:rPr lang="en-US" sz="1700" b="false">
                <a:solidFill>
                  <a:srgbClr val="F7FAFC"/>
                </a:solidFill>
                <a:latin typeface="Aptos"/>
              </a:rPr>
              <a:t/>
            </a:r>
            <a:endParaRPr lang="en-US" sz="1700"/>
          </a:p>
          <a:p>
            <a:pPr algn="l"/>
            <a:r>
              <a:rPr lang="en-US" sz="1700" b="false">
                <a:solidFill>
                  <a:srgbClr val="F7FAFC"/>
                </a:solidFill>
                <a:latin typeface="Aptos"/>
              </a:rPr>
              <a:t>Grafana</a:t>
            </a:r>
            <a:endParaRPr lang="en-US" sz="1700"/>
          </a:p>
          <a:p>
            <a:pPr algn="l"/>
            <a:r>
              <a:rPr lang="en-US" sz="1700" b="false">
                <a:solidFill>
                  <a:srgbClr val="F7FAFC"/>
                </a:solidFill>
                <a:latin typeface="Aptos"/>
              </a:rPr>
              <a:t>grafana.com/docs</a:t>
            </a:r>
            <a:endParaRPr lang="en-US" sz="1700"/>
          </a:p>
        </p:txBody>
      </p:sp>
      <p:sp>
        <p:nvSpPr>
          <p:cNvPr id="410" name="Text 410"/>
          <p:cNvSpPr/>
          <p:nvPr/>
        </p:nvSpPr>
        <p:spPr>
          <a:xfrm>
            <a:off x="6000000" y="1900000"/>
            <a:ext cx="4800000" cy="3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false">
                <a:solidFill>
                  <a:srgbClr val="F7FAFC"/>
                </a:solidFill>
                <a:latin typeface="Aptos"/>
              </a:rPr>
              <a:t>kube-prometheus-stack</a:t>
            </a:r>
            <a:endParaRPr lang="en-US" sz="1700"/>
          </a:p>
          <a:p>
            <a:pPr algn="l"/>
            <a:r>
              <a:rPr lang="en-US" sz="1700" b="false">
                <a:solidFill>
                  <a:srgbClr val="F7FAFC"/>
                </a:solidFill>
                <a:latin typeface="Aptos"/>
              </a:rPr>
              <a:t>github.com/prometheus-community/helm-charts</a:t>
            </a:r>
            <a:endParaRPr lang="en-US" sz="1700"/>
          </a:p>
          <a:p>
            <a:pPr algn="l"/>
            <a:r>
              <a:rPr lang="en-US" sz="1700" b="false">
                <a:solidFill>
                  <a:srgbClr val="F7FAFC"/>
                </a:solidFill>
                <a:latin typeface="Aptos"/>
              </a:rPr>
              <a:t/>
            </a:r>
            <a:endParaRPr lang="en-US" sz="1700"/>
          </a:p>
          <a:p>
            <a:pPr algn="l"/>
            <a:r>
              <a:rPr lang="en-US" sz="1700" b="false">
                <a:solidFill>
                  <a:srgbClr val="F7FAFC"/>
                </a:solidFill>
                <a:latin typeface="Aptos"/>
              </a:rPr>
              <a:t>Node.js</a:t>
            </a:r>
            <a:endParaRPr lang="en-US" sz="1700"/>
          </a:p>
          <a:p>
            <a:pPr algn="l"/>
            <a:r>
              <a:rPr lang="en-US" sz="1700" b="false">
                <a:solidFill>
                  <a:srgbClr val="F7FAFC"/>
                </a:solidFill>
                <a:latin typeface="Aptos"/>
              </a:rPr>
              <a:t>nodejs.org/docs</a:t>
            </a:r>
            <a:endParaRPr lang="en-US" sz="1700"/>
          </a:p>
          <a:p>
            <a:pPr algn="l"/>
            <a:r>
              <a:rPr lang="en-US" sz="1700" b="false">
                <a:solidFill>
                  <a:srgbClr val="F7FAFC"/>
                </a:solidFill>
                <a:latin typeface="Aptos"/>
              </a:rPr>
              <a:t/>
            </a:r>
            <a:endParaRPr lang="en-US" sz="1700"/>
          </a:p>
          <a:p>
            <a:pPr algn="l"/>
            <a:r>
              <a:rPr lang="en-US" sz="1700" b="false">
                <a:solidFill>
                  <a:srgbClr val="F7FAFC"/>
                </a:solidFill>
                <a:latin typeface="Aptos"/>
              </a:rPr>
              <a:t>Docker Desktop Kubernetes</a:t>
            </a:r>
            <a:endParaRPr lang="en-US" sz="1700"/>
          </a:p>
          <a:p>
            <a:pPr algn="l"/>
            <a:r>
              <a:rPr lang="en-US" sz="1700" b="false">
                <a:solidFill>
                  <a:srgbClr val="F7FAFC"/>
                </a:solidFill>
                <a:latin typeface="Aptos"/>
              </a:rPr>
              <a:t>docs.docker.com/desktop/use-desktop/kubernetes</a:t>
            </a:r>
            <a:endParaRPr lang="en-US" sz="1700"/>
          </a:p>
        </p:txBody>
      </p:sp>
      <p:sp>
        <p:nvSpPr>
          <p:cNvPr id="414" name="Text 414"/>
          <p:cNvSpPr/>
          <p:nvPr/>
        </p:nvSpPr>
        <p:spPr>
          <a:xfrm>
            <a:off x="650000" y="6570000"/>
            <a:ext cx="7000000" cy="1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900" b="true">
                <a:solidFill>
                  <a:srgbClr val="63758F"/>
                </a:solidFill>
                <a:latin typeface="Aptos"/>
              </a:rPr>
              <a:t>KUBERNETES WORKLOAD RELIABILITY  /  DEVOPS MINI-PROJECT</a:t>
            </a:r>
            <a:endParaRPr lang="en-US" sz="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8" name="Box 4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020"/>
          </a:solidFill>
          <a:ln w="10000">
            <a:solidFill>
              <a:srgbClr val="0A1020"/>
            </a:solidFill>
          </a:ln>
        </p:spPr>
      </p:sp>
      <p:sp>
        <p:nvSpPr>
          <p:cNvPr id="419" name="Dot 419"/>
          <p:cNvSpPr/>
          <p:nvPr/>
        </p:nvSpPr>
        <p:spPr>
          <a:xfrm>
            <a:off x="11000000" y="500000"/>
            <a:ext cx="900000" cy="900000"/>
          </a:xfrm>
          <a:prstGeom prst="ellipse">
            <a:avLst/>
          </a:prstGeom>
          <a:solidFill>
            <a:srgbClr val="10263A"/>
          </a:solidFill>
          <a:ln>
            <a:noFill/>
          </a:ln>
        </p:spPr>
      </p:sp>
      <p:sp>
        <p:nvSpPr>
          <p:cNvPr id="420" name="Dot 420"/>
          <p:cNvSpPr/>
          <p:nvPr/>
        </p:nvSpPr>
        <p:spPr>
          <a:xfrm>
            <a:off x="11190000" y="690000"/>
            <a:ext cx="400000" cy="400000"/>
          </a:xfrm>
          <a:prstGeom prst="ellipse">
            <a:avLst/>
          </a:prstGeom>
          <a:solidFill>
            <a:srgbClr val="FF8A3D"/>
          </a:solidFill>
          <a:ln>
            <a:noFill/>
          </a:ln>
        </p:spPr>
      </p:sp>
      <p:sp>
        <p:nvSpPr>
          <p:cNvPr id="415" name="Text 415"/>
          <p:cNvSpPr/>
          <p:nvPr/>
        </p:nvSpPr>
        <p:spPr>
          <a:xfrm>
            <a:off x="850000" y="2100000"/>
            <a:ext cx="60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800" b="true">
                <a:solidFill>
                  <a:srgbClr val="F7FAFC"/>
                </a:solidFill>
                <a:latin typeface="Aptos"/>
              </a:rPr>
              <a:t>Questions?</a:t>
            </a:r>
            <a:endParaRPr lang="en-US" sz="3800"/>
          </a:p>
        </p:txBody>
      </p:sp>
      <p:sp>
        <p:nvSpPr>
          <p:cNvPr id="416" name="Text 416"/>
          <p:cNvSpPr/>
          <p:nvPr/>
        </p:nvSpPr>
        <p:spPr>
          <a:xfrm>
            <a:off x="880000" y="3350000"/>
            <a:ext cx="70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000" b="false">
                <a:solidFill>
                  <a:srgbClr val="9DABC0"/>
                </a:solidFill>
                <a:latin typeface="Aptos"/>
              </a:rPr>
              <a:t>Kubernetes Workload Reliability</a:t>
            </a:r>
            <a:endParaRPr lang="en-US" sz="2000"/>
          </a:p>
          <a:p>
            <a:pPr algn="l"/>
            <a:r>
              <a:rPr lang="en-US" sz="2000" b="false">
                <a:solidFill>
                  <a:srgbClr val="9DABC0"/>
                </a:solidFill>
                <a:latin typeface="Aptos"/>
              </a:rPr>
              <a:t>Prometheus  •  Grafana  •  Docker Desktop</a:t>
            </a:r>
            <a:endParaRPr lang="en-US" sz="2000"/>
          </a:p>
        </p:txBody>
      </p:sp>
      <p:sp>
        <p:nvSpPr>
          <p:cNvPr id="417" name="Text 417"/>
          <p:cNvSpPr/>
          <p:nvPr/>
        </p:nvSpPr>
        <p:spPr>
          <a:xfrm>
            <a:off x="880000" y="5100000"/>
            <a:ext cx="4000000" cy="4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000" b="true">
                <a:solidFill>
                  <a:srgbClr val="FF8A3D"/>
                </a:solidFill>
                <a:latin typeface="Aptos"/>
              </a:rPr>
              <a:t>Thank you</a:t>
            </a:r>
            <a:endParaRPr lang="en-US" sz="2000"/>
          </a:p>
        </p:txBody>
      </p:sp>
      <p:sp>
        <p:nvSpPr>
          <p:cNvPr id="421" name="Text 421"/>
          <p:cNvSpPr/>
          <p:nvPr/>
        </p:nvSpPr>
        <p:spPr>
          <a:xfrm>
            <a:off x="650000" y="6570000"/>
            <a:ext cx="7000000" cy="1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900" b="true">
                <a:solidFill>
                  <a:srgbClr val="63758F"/>
                </a:solidFill>
                <a:latin typeface="Aptos"/>
              </a:rPr>
              <a:t>KUBERNETES WORKLOAD RELIABILITY  /  DEVOPS MINI-PROJECT</a:t>
            </a:r>
            <a:endParaRPr lang="en-US" sz="900"/>
          </a:p>
        </p:txBody>
      </p:sp>
    </p:spTree>
  </p:cSld>
  <p:clrMapOvr>
    <a:masterClrMapping/>
  </p:clrMapOvr>
</p:sld>
</file>